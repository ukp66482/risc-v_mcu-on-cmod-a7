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handoutMasterIdLst>
    <p:handoutMasterId r:id="rId38"/>
  </p:handoutMasterIdLst>
  <p:sldIdLst>
    <p:sldId id="353" r:id="rId2"/>
    <p:sldId id="352" r:id="rId3"/>
    <p:sldId id="355" r:id="rId4"/>
    <p:sldId id="354" r:id="rId5"/>
    <p:sldId id="292" r:id="rId6"/>
    <p:sldId id="279" r:id="rId7"/>
    <p:sldId id="356" r:id="rId8"/>
    <p:sldId id="257" r:id="rId9"/>
    <p:sldId id="305" r:id="rId10"/>
    <p:sldId id="306" r:id="rId11"/>
    <p:sldId id="293" r:id="rId12"/>
    <p:sldId id="262" r:id="rId13"/>
    <p:sldId id="357" r:id="rId14"/>
    <p:sldId id="360" r:id="rId15"/>
    <p:sldId id="381" r:id="rId16"/>
    <p:sldId id="271" r:id="rId17"/>
    <p:sldId id="377" r:id="rId18"/>
    <p:sldId id="378" r:id="rId19"/>
    <p:sldId id="376" r:id="rId20"/>
    <p:sldId id="362" r:id="rId21"/>
    <p:sldId id="363" r:id="rId22"/>
    <p:sldId id="302" r:id="rId23"/>
    <p:sldId id="364" r:id="rId24"/>
    <p:sldId id="263" r:id="rId25"/>
    <p:sldId id="365" r:id="rId26"/>
    <p:sldId id="272" r:id="rId27"/>
    <p:sldId id="289" r:id="rId28"/>
    <p:sldId id="366" r:id="rId29"/>
    <p:sldId id="367" r:id="rId30"/>
    <p:sldId id="368" r:id="rId31"/>
    <p:sldId id="369" r:id="rId32"/>
    <p:sldId id="370" r:id="rId33"/>
    <p:sldId id="264" r:id="rId34"/>
    <p:sldId id="382" r:id="rId35"/>
    <p:sldId id="374" r:id="rId36"/>
  </p:sldIdLst>
  <p:sldSz cx="12192000" cy="6858000"/>
  <p:notesSz cx="6797675" cy="99266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6887"/>
    <a:srgbClr val="F3F9FA"/>
    <a:srgbClr val="27537B"/>
    <a:srgbClr val="004F88"/>
    <a:srgbClr val="00D0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101" autoAdjust="0"/>
    <p:restoredTop sz="87273" autoAdjust="0"/>
  </p:normalViewPr>
  <p:slideViewPr>
    <p:cSldViewPr snapToGrid="0">
      <p:cViewPr varScale="1">
        <p:scale>
          <a:sx n="96" d="100"/>
          <a:sy n="96" d="100"/>
        </p:scale>
        <p:origin x="1548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99F11-57D9-4294-A5FE-64EE127CA968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9CB530-4F92-4B99-9104-CE8BD419A50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822267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527D1B-DA63-41BA-9798-D609BF505076}" type="datetimeFigureOut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77195"/>
            <a:ext cx="5438140" cy="39086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157F02-474E-488B-BE4D-5412E00FF68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761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9B658-CDBC-8B7F-2362-E2412ADE7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44542E5-481C-A9A1-AB6F-9FA11C3A0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532CA5-E993-EFF7-60E4-EBBD618326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AA95409-6A89-FDBE-8C40-8740035578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9A0D18-15BC-E644-BBC8-0456017DDD4C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043507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157F02-474E-488B-BE4D-5412E00FF68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9657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endParaRPr lang="zh-TW" altLang="en-US" dirty="0">
                  <a:effectLst/>
                </a:endParaRPr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6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 descr="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28802"/>
            <a:ext cx="12192000" cy="2557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8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24000"/>
            <a:ext cx="12192000" cy="80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81" name="Rectangle 9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4724400"/>
            <a:ext cx="8534400" cy="1676400"/>
          </a:xfrm>
        </p:spPr>
        <p:txBody>
          <a:bodyPr/>
          <a:lstStyle>
            <a:lvl1pPr marL="0" indent="0" algn="ctr">
              <a:buFontTx/>
              <a:buNone/>
              <a:defRPr b="1"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3084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3454400" y="2209800"/>
            <a:ext cx="8534400" cy="1981200"/>
          </a:xfrm>
        </p:spPr>
        <p:txBody>
          <a:bodyPr/>
          <a:lstStyle>
            <a:lvl1pPr algn="ctr">
              <a:defRPr sz="3600"/>
            </a:lvl1pPr>
          </a:lstStyle>
          <a:p>
            <a:pPr lvl="0"/>
            <a:r>
              <a:rPr lang="zh-TW" altLang="en-US" noProof="0" dirty="0"/>
              <a:t>按一下以編輯母片標題樣式</a:t>
            </a:r>
          </a:p>
        </p:txBody>
      </p:sp>
      <p:sp>
        <p:nvSpPr>
          <p:cNvPr id="6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0" y="6400800"/>
            <a:ext cx="25400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E035F27-4D28-4968-A691-9611B3ABAAE8}" type="datetime1">
              <a:rPr lang="zh-TW" altLang="en-US" smtClean="0">
                <a:solidFill>
                  <a:srgbClr val="000000"/>
                </a:solidFill>
              </a:rPr>
              <a:t>2026/4/15</a:t>
            </a:fld>
            <a:endParaRPr lang="zh-TW" altLang="en-US">
              <a:solidFill>
                <a:srgbClr val="000000"/>
              </a:solidFill>
            </a:endParaRPr>
          </a:p>
        </p:txBody>
      </p:sp>
      <p:sp>
        <p:nvSpPr>
          <p:cNvPr id="7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165600" y="6400800"/>
            <a:ext cx="3860800" cy="457200"/>
          </a:xfrm>
        </p:spPr>
        <p:txBody>
          <a:bodyPr/>
          <a:lstStyle>
            <a:lvl1pPr>
              <a:defRPr>
                <a:solidFill>
                  <a:schemeClr val="tx1"/>
                </a:solidFill>
                <a:cs typeface="Angsana New" pitchFamily="18" charset="-34"/>
              </a:defRPr>
            </a:lvl1pPr>
          </a:lstStyle>
          <a:p>
            <a:endParaRPr lang="zh-TW" alt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8691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>
            <a:sp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xfrm>
            <a:off x="1016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06BD1EBB-F0A8-4B9C-9D4E-C17A8A5A2449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xfrm>
            <a:off x="4267200" y="6552000"/>
            <a:ext cx="3860800" cy="260350"/>
          </a:xfrm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52171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492EEED-A9B7-42BC-A1F2-60B82C4FBAE6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695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34435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244168" y="1482725"/>
            <a:ext cx="5706533" cy="5113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6B513EE-F750-4072-AF1B-A20318CC106B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550400" y="6552000"/>
            <a:ext cx="2540000" cy="260350"/>
          </a:xfrm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32055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103FB19-3342-4E79-ADCE-9DB99AA56126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8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9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9417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3B2D14A-D3C7-490B-A8E1-96FA496324EF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3457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7E911DC-77C9-4ADC-B07E-272A68DBFA14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8698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95B21CB-16DD-4E49-B691-7AAC81A3EA8C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2349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F4F6D1-4FC1-4DE7-B4BC-17972AA62A4A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879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C144876-D6B9-4FEE-BE3A-F4CD2EEB4379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7740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9076268" y="3"/>
            <a:ext cx="2912533" cy="6596063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34436" y="3"/>
            <a:ext cx="8538633" cy="6596063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0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BA259BF-DE45-49FA-A477-968460ED4E03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zh-TW" alt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9F9ED32-46C6-469E-9D81-E8934DBD096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7388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6417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6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"/>
            <a:ext cx="12192000" cy="1231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900000" y="180000"/>
            <a:ext cx="10972800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5" y="1482725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016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 b="1">
                <a:solidFill>
                  <a:srgbClr val="0033CC"/>
                </a:solidFill>
                <a:latin typeface="+mn-lt"/>
                <a:cs typeface="Angsana New" pitchFamily="18" charset="-34"/>
              </a:defRPr>
            </a:lvl1pPr>
          </a:lstStyle>
          <a:p>
            <a:fld id="{6B6E154F-CDA9-41F4-98F3-1230ED3328AC}" type="datetime1">
              <a:rPr lang="zh-TW" altLang="en-US" smtClean="0"/>
              <a:t>2026/4/15</a:t>
            </a:fld>
            <a:endParaRPr lang="zh-TW" altLang="en-US"/>
          </a:p>
        </p:txBody>
      </p:sp>
      <p:sp>
        <p:nvSpPr>
          <p:cNvPr id="1035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267200" y="6552000"/>
            <a:ext cx="38608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>
                <a:solidFill>
                  <a:srgbClr val="0033CC"/>
                </a:solidFill>
                <a:latin typeface="+mn-lt"/>
                <a:cs typeface="Times New Roman" pitchFamily="18" charset="0"/>
              </a:defRPr>
            </a:lvl1pPr>
          </a:lstStyle>
          <a:p>
            <a:endParaRPr lang="zh-TW" altLang="en-US"/>
          </a:p>
        </p:txBody>
      </p:sp>
      <p:sp>
        <p:nvSpPr>
          <p:cNvPr id="1036" name="Rectangle 12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550400" y="6552000"/>
            <a:ext cx="2540000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 b="1" smtClean="0">
                <a:solidFill>
                  <a:srgbClr val="0033CC"/>
                </a:solidFill>
                <a:latin typeface="Calibri" panose="020F0502020204030204" pitchFamily="34" charset="0"/>
                <a:cs typeface="Angsana New" panose="02020603050405020304" pitchFamily="18" charset="-34"/>
              </a:defRPr>
            </a:lvl1pPr>
          </a:lstStyle>
          <a:p>
            <a:fld id="{F9F9ED32-46C6-469E-9D81-E8934DBD0961}" type="slidenum">
              <a:rPr lang="zh-TW" altLang="en-US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7819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Calibri" pitchFamily="34" charset="0"/>
          <a:ea typeface="新細明體" pitchFamily="18" charset="-12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kumimoji="1" sz="4000" b="1">
          <a:solidFill>
            <a:srgbClr val="DDDDDD"/>
          </a:solidFill>
          <a:latin typeface="Times New Roman" pitchFamily="18" charset="0"/>
          <a:ea typeface="新細明體" pitchFamily="18" charset="-120"/>
        </a:defRPr>
      </a:lvl9pPr>
    </p:titleStyle>
    <p:bodyStyle>
      <a:lvl1pPr marL="342891" indent="-342891" algn="l" rtl="0" eaLnBrk="1" fontAlgn="base" hangingPunct="1">
        <a:spcBef>
          <a:spcPct val="20000"/>
        </a:spcBef>
        <a:spcAft>
          <a:spcPct val="0"/>
        </a:spcAft>
        <a:buBlip>
          <a:blip r:embed="rId15"/>
        </a:buBlip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32" indent="-285744" algn="l" rtl="0" eaLnBrk="1" fontAlgn="base" hangingPunct="1">
        <a:spcBef>
          <a:spcPct val="20000"/>
        </a:spcBef>
        <a:spcAft>
          <a:spcPct val="0"/>
        </a:spcAft>
        <a:buBlip>
          <a:blip r:embed="rId16"/>
        </a:buBlip>
        <a:defRPr kumimoji="1" sz="2400">
          <a:solidFill>
            <a:schemeClr val="tx1"/>
          </a:solidFill>
          <a:latin typeface="+mn-lt"/>
          <a:ea typeface="+mn-ea"/>
        </a:defRPr>
      </a:lvl2pPr>
      <a:lvl3pPr marL="1142971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3pPr>
      <a:lvl4pPr marL="1600160" indent="-228594" algn="l" rtl="0" eaLnBrk="1" fontAlgn="base" hangingPunct="1">
        <a:spcBef>
          <a:spcPct val="20000"/>
        </a:spcBef>
        <a:spcAft>
          <a:spcPct val="0"/>
        </a:spcAft>
        <a:buBlip>
          <a:blip r:embed="rId18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349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hangingPunct="1">
        <a:spcBef>
          <a:spcPct val="20000"/>
        </a:spcBef>
        <a:spcAft>
          <a:spcPct val="0"/>
        </a:spcAft>
        <a:buBlip>
          <a:blip r:embed="rId17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11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12.png"/><Relationship Id="rId9" Type="http://schemas.openxmlformats.org/officeDocument/2006/relationships/image" Target="../media/image1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kp66482/RISC-V-MCU-on-Cmod-A7/blob/main/Vitis-Software-Dev-Guide/JTAG-Debug-Mode/JTAG-Debug-Mode.md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amd.com/r/en-US/oslib_rm/BSP-and-Libraries-Overview" TargetMode="External"/><Relationship Id="rId3" Type="http://schemas.openxmlformats.org/officeDocument/2006/relationships/hyperlink" Target="https://docs.riscv.org/reference/isa/priv/priv-index.html" TargetMode="External"/><Relationship Id="rId7" Type="http://schemas.openxmlformats.org/officeDocument/2006/relationships/hyperlink" Target="https://docs.amd.com/r/en-US/ug1400-vitis-embedded/Getting-Started-with-Vitis" TargetMode="External"/><Relationship Id="rId2" Type="http://schemas.openxmlformats.org/officeDocument/2006/relationships/hyperlink" Target="https://docs.riscv.org/reference/isa/unpriv/unpriv-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amd.com/r/en-US/pg428-mdm-v" TargetMode="External"/><Relationship Id="rId5" Type="http://schemas.openxmlformats.org/officeDocument/2006/relationships/hyperlink" Target="https://docs.amd.com/r/en-US/ug1629-microblaze-v-user-guide" TargetMode="External"/><Relationship Id="rId4" Type="http://schemas.openxmlformats.org/officeDocument/2006/relationships/hyperlink" Target="https://riscv.org/wp-content/uploads/2024/12/riscv-debug-release.pdf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144D-B581-8420-66DA-5A03CCF8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8CEC9A-57AC-4034-5ACF-8628734A36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8850" y="2724139"/>
            <a:ext cx="8534400" cy="1057275"/>
          </a:xfrm>
        </p:spPr>
        <p:txBody>
          <a:bodyPr anchor="t">
            <a:noAutofit/>
          </a:bodyPr>
          <a:lstStyle/>
          <a:p>
            <a:pPr>
              <a:spcBef>
                <a:spcPts val="641"/>
              </a:spcBef>
              <a:tabLst>
                <a:tab pos="0" algn="l"/>
              </a:tabLst>
            </a:pP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RISC-V Microcontroller</a:t>
            </a:r>
            <a:br>
              <a:rPr lang="en-US" sz="4000" b="0" spc="-1" dirty="0">
                <a:solidFill>
                  <a:srgbClr val="000000"/>
                </a:solidFill>
              </a:rPr>
            </a:br>
            <a:r>
              <a:rPr lang="en-US" sz="4000" spc="-1" dirty="0">
                <a:solidFill>
                  <a:schemeClr val="lt1"/>
                </a:solidFill>
                <a:ea typeface="Times New Roman"/>
              </a:rPr>
              <a:t>On Cmod-A7-35T</a:t>
            </a:r>
            <a:endParaRPr lang="en-US" sz="4000" b="0" spc="-1" dirty="0">
              <a:solidFill>
                <a:srgbClr val="000000"/>
              </a:solidFill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767B12C-1476-B53D-5FD1-8B8FAC5C9D42}"/>
              </a:ext>
            </a:extLst>
          </p:cNvPr>
          <p:cNvSpPr txBox="1">
            <a:spLocks/>
          </p:cNvSpPr>
          <p:nvPr/>
        </p:nvSpPr>
        <p:spPr bwMode="auto">
          <a:xfrm>
            <a:off x="3498850" y="3686176"/>
            <a:ext cx="85344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3600" b="1">
                <a:solidFill>
                  <a:srgbClr val="DDDDDD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Calibri" pitchFamily="34" charset="0"/>
                <a:ea typeface="新細明體" pitchFamily="18" charset="-12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000" b="1">
                <a:solidFill>
                  <a:srgbClr val="DDDDDD"/>
                </a:solidFill>
                <a:latin typeface="Times New Roman" pitchFamily="18" charset="0"/>
                <a:ea typeface="新細明體" pitchFamily="18" charset="-120"/>
              </a:defRPr>
            </a:lvl9pPr>
          </a:lstStyle>
          <a:p>
            <a:endParaRPr lang="en-US" altLang="zh-TW" sz="2200" b="0" dirty="0"/>
          </a:p>
        </p:txBody>
      </p:sp>
      <p:sp>
        <p:nvSpPr>
          <p:cNvPr id="3" name="文字方塊 1">
            <a:extLst>
              <a:ext uri="{FF2B5EF4-FFF2-40B4-BE49-F238E27FC236}">
                <a16:creationId xmlns:a16="http://schemas.microsoft.com/office/drawing/2014/main" id="{85F58FE3-C6FC-7DFE-DB47-D1B924DF63E3}"/>
              </a:ext>
            </a:extLst>
          </p:cNvPr>
          <p:cNvSpPr/>
          <p:nvPr/>
        </p:nvSpPr>
        <p:spPr>
          <a:xfrm>
            <a:off x="7886880" y="6263640"/>
            <a:ext cx="412164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Developed by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Wei-Feng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</a:t>
            </a:r>
            <a:r>
              <a:rPr kumimoji="0" lang="en-US" sz="1400" b="0" i="0" u="none" strike="noStrike" kern="1200" cap="none" spc="-1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Huang,</a:t>
            </a:r>
            <a:r>
              <a:rPr kumimoji="0" lang="en-US" sz="1400" b="0" i="0" u="none" strike="noStrike" kern="1200" cap="none" spc="-1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Arial"/>
                <a:cs typeface="+mn-cs"/>
              </a:rPr>
              <a:t> DICLAB, NCKU</a:t>
            </a:r>
            <a:endParaRPr kumimoji="0" lang="en-US" sz="1400" b="0" i="0" u="none" strike="noStrike" kern="120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44709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80E7-411B-5B87-EFAC-03C9325D8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3D012-99B4-A6AC-0CD2-999158835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0A0642-98CF-9CEF-6C6D-052CB538B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26C914-5B87-BB1E-25CB-FED0FD0F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9506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D0241-1956-99C1-A0A1-DD0731EA4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FD5E8C2-DE78-D88F-3060-F15FF2D3C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E45176-CC95-1BCF-EA4B-F652AF898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53967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25D89C-D18F-11F0-D562-EF360E4B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65" y="45649"/>
            <a:ext cx="10972800" cy="1017837"/>
          </a:xfrm>
        </p:spPr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E1BACC-1A92-621E-0001-4CF881F56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4</a:t>
            </a:fld>
            <a:endParaRPr lang="zh-TW" altLang="en-US" dirty="0"/>
          </a:p>
        </p:txBody>
      </p:sp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08BEA351-5DE7-A223-EC06-CF5509F465A1}"/>
              </a:ext>
            </a:extLst>
          </p:cNvPr>
          <p:cNvSpPr txBox="1">
            <a:spLocks/>
          </p:cNvSpPr>
          <p:nvPr/>
        </p:nvSpPr>
        <p:spPr bwMode="auto">
          <a:xfrm>
            <a:off x="474663" y="1636662"/>
            <a:ext cx="11615737" cy="5113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891" indent="-342891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kumimoji="1"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32" indent="-28574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4"/>
              </a:buBlip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2pPr>
            <a:lvl3pPr marL="1142971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160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6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349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537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726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914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103" indent="-228594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Breadboard-friendly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>
              <a:spcBef>
                <a:spcPts val="1200"/>
              </a:spcBef>
            </a:pPr>
            <a:r>
              <a:rPr lang="en-US" sz="2400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TWD: 3,092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95F13693-747A-63FD-0B0C-62E1495AB0B9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7"/>
          <a:stretch/>
        </p:blipFill>
        <p:spPr>
          <a:xfrm>
            <a:off x="7833663" y="1636662"/>
            <a:ext cx="3883674" cy="2849547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776565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9094A-2CDA-3BAD-221E-0D93852AE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8C323D2-E779-1830-948D-525DDD94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436" y="-9939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6" name="Picture 2" descr="Cmod A7-35T: Breadboardable Artix-7 FPGA Module - Digilent">
            <a:extLst>
              <a:ext uri="{FF2B5EF4-FFF2-40B4-BE49-F238E27FC236}">
                <a16:creationId xmlns:a16="http://schemas.microsoft.com/office/drawing/2014/main" id="{7FBF4CE4-8449-4DC3-DBC3-3300BB91DF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2" t="36009" r="4500" b="40627"/>
          <a:stretch>
            <a:fillRect/>
          </a:stretch>
        </p:blipFill>
        <p:spPr bwMode="auto">
          <a:xfrm>
            <a:off x="2905245" y="2986268"/>
            <a:ext cx="5833641" cy="1469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直線單箭頭接點 26">
            <a:extLst>
              <a:ext uri="{FF2B5EF4-FFF2-40B4-BE49-F238E27FC236}">
                <a16:creationId xmlns:a16="http://schemas.microsoft.com/office/drawing/2014/main" id="{05E835DE-AA31-2675-B857-D642D1687F46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6850966" y="2525939"/>
            <a:ext cx="0" cy="798654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9A4794-1E58-3542-B788-9E4693FADF4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5</a:t>
            </a:fld>
            <a:endParaRPr lang="en-TW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9EC067-3C0D-31FD-78ED-311F29DAD063}"/>
              </a:ext>
            </a:extLst>
          </p:cNvPr>
          <p:cNvSpPr txBox="1"/>
          <p:nvPr/>
        </p:nvSpPr>
        <p:spPr>
          <a:xfrm>
            <a:off x="4293214" y="1602609"/>
            <a:ext cx="51155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 Flash 4MB:</a:t>
            </a:r>
          </a:p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Micron-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N25Q0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(32Mbit / 4MB) or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Macronix-MX25L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33FZBI-08G/Q (32Mbit / 4MB)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單箭頭接點 26">
            <a:extLst>
              <a:ext uri="{FF2B5EF4-FFF2-40B4-BE49-F238E27FC236}">
                <a16:creationId xmlns:a16="http://schemas.microsoft.com/office/drawing/2014/main" id="{5FA1B039-8FAE-3142-32BF-1A64863FAA8E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360476" y="4135902"/>
            <a:ext cx="413575" cy="709513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F9BB4CE-57DA-38E0-162C-2CB0E54A809F}"/>
              </a:ext>
            </a:extLst>
          </p:cNvPr>
          <p:cNvSpPr txBox="1"/>
          <p:nvPr/>
        </p:nvSpPr>
        <p:spPr>
          <a:xfrm>
            <a:off x="5043449" y="4845415"/>
            <a:ext cx="34612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SRAM 512KB: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IS61WV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5128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BLL-10BLI (512KB)</a:t>
            </a:r>
          </a:p>
          <a:p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DE31D4-5D94-B58F-CABD-234A7B6B417C}"/>
              </a:ext>
            </a:extLst>
          </p:cNvPr>
          <p:cNvSpPr txBox="1"/>
          <p:nvPr/>
        </p:nvSpPr>
        <p:spPr>
          <a:xfrm>
            <a:off x="2409395" y="4845414"/>
            <a:ext cx="22794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XC7A35T-1CPG236C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線單箭頭接點 26">
            <a:extLst>
              <a:ext uri="{FF2B5EF4-FFF2-40B4-BE49-F238E27FC236}">
                <a16:creationId xmlns:a16="http://schemas.microsoft.com/office/drawing/2014/main" id="{EE4C2AE2-F407-15DF-E358-73A7EEEC8D08}"/>
              </a:ext>
            </a:extLst>
          </p:cNvPr>
          <p:cNvCxnSpPr>
            <a:cxnSpLocks/>
          </p:cNvCxnSpPr>
          <p:nvPr/>
        </p:nvCxnSpPr>
        <p:spPr>
          <a:xfrm flipH="1">
            <a:off x="3549130" y="4135902"/>
            <a:ext cx="1880999" cy="73836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40267D0-2644-50AC-9EC4-2F09EA2B478B}"/>
              </a:ext>
            </a:extLst>
          </p:cNvPr>
          <p:cNvSpPr txBox="1"/>
          <p:nvPr/>
        </p:nvSpPr>
        <p:spPr>
          <a:xfrm>
            <a:off x="9408717" y="3500668"/>
            <a:ext cx="227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PMOD</a:t>
            </a:r>
          </a:p>
        </p:txBody>
      </p: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68CAC0B4-6BAE-4A2D-77FA-BD5F054F5F00}"/>
              </a:ext>
            </a:extLst>
          </p:cNvPr>
          <p:cNvCxnSpPr>
            <a:cxnSpLocks/>
          </p:cNvCxnSpPr>
          <p:nvPr/>
        </p:nvCxnSpPr>
        <p:spPr>
          <a:xfrm>
            <a:off x="8688654" y="3685334"/>
            <a:ext cx="692258" cy="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39FA6-9ED6-6FB8-29A6-51A5BE061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8887" y="4007238"/>
            <a:ext cx="3350994" cy="928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B5AEA9-6EE8-4A27-7DC2-37857B0F0D71}"/>
              </a:ext>
            </a:extLst>
          </p:cNvPr>
          <p:cNvSpPr txBox="1"/>
          <p:nvPr/>
        </p:nvSpPr>
        <p:spPr>
          <a:xfrm>
            <a:off x="1643548" y="1921920"/>
            <a:ext cx="1819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 / JTAG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FTDI FT2232HQ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線單箭頭接點 26">
            <a:extLst>
              <a:ext uri="{FF2B5EF4-FFF2-40B4-BE49-F238E27FC236}">
                <a16:creationId xmlns:a16="http://schemas.microsoft.com/office/drawing/2014/main" id="{6BA4315B-4526-A3B9-9A79-20728B205739}"/>
              </a:ext>
            </a:extLst>
          </p:cNvPr>
          <p:cNvCxnSpPr>
            <a:cxnSpLocks/>
            <a:endCxn id="2" idx="2"/>
          </p:cNvCxnSpPr>
          <p:nvPr/>
        </p:nvCxnSpPr>
        <p:spPr>
          <a:xfrm flipH="1" flipV="1">
            <a:off x="2553413" y="2568251"/>
            <a:ext cx="1238672" cy="798237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71E152-3784-EDDB-D80E-1FC42E4F5DE8}"/>
              </a:ext>
            </a:extLst>
          </p:cNvPr>
          <p:cNvSpPr txBox="1"/>
          <p:nvPr/>
        </p:nvSpPr>
        <p:spPr>
          <a:xfrm>
            <a:off x="658268" y="3536594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Micro-USB</a:t>
            </a:r>
            <a:endParaRPr lang="en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線單箭頭接點 26">
            <a:extLst>
              <a:ext uri="{FF2B5EF4-FFF2-40B4-BE49-F238E27FC236}">
                <a16:creationId xmlns:a16="http://schemas.microsoft.com/office/drawing/2014/main" id="{664191F4-D419-E271-9AE1-99A3BB57F15E}"/>
              </a:ext>
            </a:extLst>
          </p:cNvPr>
          <p:cNvCxnSpPr>
            <a:cxnSpLocks/>
            <a:stCxn id="1026" idx="1"/>
            <a:endCxn id="7" idx="3"/>
          </p:cNvCxnSpPr>
          <p:nvPr/>
        </p:nvCxnSpPr>
        <p:spPr>
          <a:xfrm flipH="1" flipV="1">
            <a:off x="1932976" y="3721260"/>
            <a:ext cx="972269" cy="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8990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FPGA</a:t>
            </a:r>
            <a:r>
              <a:rPr lang="zh-TW" altLang="en-US" dirty="0"/>
              <a:t> </a:t>
            </a:r>
            <a:r>
              <a:rPr lang="en-US" altLang="zh-TW" dirty="0"/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BCC309-A6C3-9EB9-6B7A-A14AF2B359F8}"/>
              </a:ext>
            </a:extLst>
          </p:cNvPr>
          <p:cNvSpPr txBox="1"/>
          <p:nvPr/>
        </p:nvSpPr>
        <p:spPr>
          <a:xfrm>
            <a:off x="7852527" y="2148378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 pin: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30032C2-473D-1C1F-1EDF-C1871191490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6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ED2B6-DE25-CF1D-0DB3-4E84E91F3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F55237-E903-65BF-6DD9-7D168A58A8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2E5A49-D28C-36AD-0FFF-591A71ABB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7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0358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spcBef>
                <a:spcPts val="1200"/>
              </a:spcBef>
            </a:pPr>
            <a:r>
              <a:rPr lang="en-US" dirty="0">
                <a:latin typeface="+mn-lt"/>
                <a:cs typeface="Times New Roman" panose="02020603050405020304" pitchFamily="18" charset="0"/>
              </a:rPr>
              <a:t>Microcontroller Overview</a:t>
            </a:r>
            <a:endParaRPr lang="en-US" dirty="0">
              <a:solidFill>
                <a:schemeClr val="bg2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8026645" y="2687395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3640852" y="50663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8282285" y="2405137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9763516" y="2405137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3" name="文字方塊 22"/>
          <p:cNvSpPr/>
          <p:nvPr/>
        </p:nvSpPr>
        <p:spPr>
          <a:xfrm>
            <a:off x="7589977" y="1502815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8598015" y="1502467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407998" y="2455120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10721478" y="1502467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</a:rPr>
              <a:t>/ 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5626749" y="2589235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3793252" y="52187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5626749" y="1241755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6230829" y="2286835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3945652" y="537110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4504859" y="6416189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2524212" y="6571388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</a:rPr>
              <a:t>_2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5939712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7429384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7149312" y="5638514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9133467" y="511597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9738267" y="6161054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7754111" y="654189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ADC_0 / ADC_1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0CACE-C115-81D7-ECFE-1E67B74E90A9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8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BA056A37-2C82-8458-EB0C-6E3969F99DB1}"/>
              </a:ext>
            </a:extLst>
          </p:cNvPr>
          <p:cNvSpPr/>
          <p:nvPr/>
        </p:nvSpPr>
        <p:spPr>
          <a:xfrm rot="5400000">
            <a:off x="3670975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直線單箭頭接點 51">
            <a:extLst>
              <a:ext uri="{FF2B5EF4-FFF2-40B4-BE49-F238E27FC236}">
                <a16:creationId xmlns:a16="http://schemas.microsoft.com/office/drawing/2014/main" id="{05A595BA-6F4D-1A8E-AD8D-459A8B0F84F5}"/>
              </a:ext>
            </a:extLst>
          </p:cNvPr>
          <p:cNvCxnSpPr>
            <a:cxnSpLocks/>
            <a:stCxn id="71" idx="3"/>
            <a:endCxn id="70" idx="1"/>
          </p:cNvCxnSpPr>
          <p:nvPr/>
        </p:nvCxnSpPr>
        <p:spPr>
          <a:xfrm>
            <a:off x="2597404" y="3175281"/>
            <a:ext cx="56232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cxnSp>
        <p:nvCxnSpPr>
          <p:cNvPr id="35" name="直線單箭頭接點 51">
            <a:extLst>
              <a:ext uri="{FF2B5EF4-FFF2-40B4-BE49-F238E27FC236}">
                <a16:creationId xmlns:a16="http://schemas.microsoft.com/office/drawing/2014/main" id="{80EE79C7-9CA0-EDBC-5909-C43791CBD57F}"/>
              </a:ext>
            </a:extLst>
          </p:cNvPr>
          <p:cNvCxnSpPr>
            <a:cxnSpLocks/>
            <a:stCxn id="86" idx="3"/>
            <a:endCxn id="71" idx="1"/>
          </p:cNvCxnSpPr>
          <p:nvPr/>
        </p:nvCxnSpPr>
        <p:spPr>
          <a:xfrm flipV="1">
            <a:off x="885604" y="3175281"/>
            <a:ext cx="648000" cy="1602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9" name="箭號: 左-右雙向 38">
            <a:extLst>
              <a:ext uri="{FF2B5EF4-FFF2-40B4-BE49-F238E27FC236}">
                <a16:creationId xmlns:a16="http://schemas.microsoft.com/office/drawing/2014/main" id="{BF11FCEC-B937-91DA-764E-28D5A1070F86}"/>
              </a:ext>
            </a:extLst>
          </p:cNvPr>
          <p:cNvSpPr/>
          <p:nvPr/>
        </p:nvSpPr>
        <p:spPr>
          <a:xfrm rot="5400000">
            <a:off x="5983560" y="3763709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箭號: 左-右雙向 42">
            <a:extLst>
              <a:ext uri="{FF2B5EF4-FFF2-40B4-BE49-F238E27FC236}">
                <a16:creationId xmlns:a16="http://schemas.microsoft.com/office/drawing/2014/main" id="{19641AAB-F992-B2C9-1BC1-52F2BFBC9365}"/>
              </a:ext>
            </a:extLst>
          </p:cNvPr>
          <p:cNvSpPr/>
          <p:nvPr/>
        </p:nvSpPr>
        <p:spPr>
          <a:xfrm rot="5400000">
            <a:off x="9524836" y="3727351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箭號: 左-右雙向 43">
            <a:extLst>
              <a:ext uri="{FF2B5EF4-FFF2-40B4-BE49-F238E27FC236}">
                <a16:creationId xmlns:a16="http://schemas.microsoft.com/office/drawing/2014/main" id="{EDCF191D-2F8A-0641-3810-F5ACA131B656}"/>
              </a:ext>
            </a:extLst>
          </p:cNvPr>
          <p:cNvSpPr/>
          <p:nvPr/>
        </p:nvSpPr>
        <p:spPr>
          <a:xfrm rot="5400000">
            <a:off x="9517412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箭號: 左-右雙向 44">
            <a:extLst>
              <a:ext uri="{FF2B5EF4-FFF2-40B4-BE49-F238E27FC236}">
                <a16:creationId xmlns:a16="http://schemas.microsoft.com/office/drawing/2014/main" id="{6B504B2D-292A-A2BE-E1ED-9B196188AB25}"/>
              </a:ext>
            </a:extLst>
          </p:cNvPr>
          <p:cNvSpPr/>
          <p:nvPr/>
        </p:nvSpPr>
        <p:spPr>
          <a:xfrm rot="5400000">
            <a:off x="6296523" y="4671067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箭號: 左-右雙向 45">
            <a:extLst>
              <a:ext uri="{FF2B5EF4-FFF2-40B4-BE49-F238E27FC236}">
                <a16:creationId xmlns:a16="http://schemas.microsoft.com/office/drawing/2014/main" id="{F15D40AB-1C79-6CA8-BB68-EF82449878DB}"/>
              </a:ext>
            </a:extLst>
          </p:cNvPr>
          <p:cNvSpPr/>
          <p:nvPr/>
        </p:nvSpPr>
        <p:spPr>
          <a:xfrm rot="5400000">
            <a:off x="3997663" y="4672364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箭號: 左-右雙向 46">
            <a:extLst>
              <a:ext uri="{FF2B5EF4-FFF2-40B4-BE49-F238E27FC236}">
                <a16:creationId xmlns:a16="http://schemas.microsoft.com/office/drawing/2014/main" id="{28BFA901-37AE-2970-E717-B2600913A954}"/>
              </a:ext>
            </a:extLst>
          </p:cNvPr>
          <p:cNvSpPr/>
          <p:nvPr/>
        </p:nvSpPr>
        <p:spPr>
          <a:xfrm rot="5400000">
            <a:off x="1349897" y="4660335"/>
            <a:ext cx="495978" cy="249120"/>
          </a:xfrm>
          <a:prstGeom prst="left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B3EDC-A309-94C5-D7DC-F5AD3B1C3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4F7665A9-AC2C-762D-2B6E-C4436CF0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+mn-lt"/>
                <a:ea typeface="Calibri"/>
              </a:rPr>
              <a:t>Instruction Path vs Data Path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0" name="矩形: 圓角 3">
            <a:extLst>
              <a:ext uri="{FF2B5EF4-FFF2-40B4-BE49-F238E27FC236}">
                <a16:creationId xmlns:a16="http://schemas.microsoft.com/office/drawing/2014/main" id="{4B38E0FB-8E8C-E904-6AAD-00DAF005670B}"/>
              </a:ext>
            </a:extLst>
          </p:cNvPr>
          <p:cNvSpPr/>
          <p:nvPr/>
        </p:nvSpPr>
        <p:spPr>
          <a:xfrm>
            <a:off x="2217504" y="404714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MicroBlaze V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8CE3DE0-AB66-3F9D-A39F-187E999E9BE5}"/>
              </a:ext>
            </a:extLst>
          </p:cNvPr>
          <p:cNvSpPr/>
          <p:nvPr/>
        </p:nvSpPr>
        <p:spPr>
          <a:xfrm>
            <a:off x="357783" y="607296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89" name="矩形: 圓角 40">
            <a:extLst>
              <a:ext uri="{FF2B5EF4-FFF2-40B4-BE49-F238E27FC236}">
                <a16:creationId xmlns:a16="http://schemas.microsoft.com/office/drawing/2014/main" id="{B7F58E37-A80C-88D4-5AF6-9295E3766375}"/>
              </a:ext>
            </a:extLst>
          </p:cNvPr>
          <p:cNvSpPr/>
          <p:nvPr/>
        </p:nvSpPr>
        <p:spPr>
          <a:xfrm>
            <a:off x="2217504" y="290162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</a:endParaRPr>
          </a:p>
        </p:txBody>
      </p:sp>
      <p:cxnSp>
        <p:nvCxnSpPr>
          <p:cNvPr id="90" name="直線單箭頭接點 43">
            <a:extLst>
              <a:ext uri="{FF2B5EF4-FFF2-40B4-BE49-F238E27FC236}">
                <a16:creationId xmlns:a16="http://schemas.microsoft.com/office/drawing/2014/main" id="{F9AF19C2-5090-702C-D170-6E609FFD4EB8}"/>
              </a:ext>
            </a:extLst>
          </p:cNvPr>
          <p:cNvCxnSpPr>
            <a:stCxn id="89" idx="2"/>
            <a:endCxn id="70" idx="0"/>
          </p:cNvCxnSpPr>
          <p:nvPr/>
        </p:nvCxnSpPr>
        <p:spPr>
          <a:xfrm>
            <a:off x="2976744" y="3716669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>
            <a:extLst>
              <a:ext uri="{FF2B5EF4-FFF2-40B4-BE49-F238E27FC236}">
                <a16:creationId xmlns:a16="http://schemas.microsoft.com/office/drawing/2014/main" id="{544A8586-0A13-B205-8F07-59222A176CE6}"/>
              </a:ext>
            </a:extLst>
          </p:cNvPr>
          <p:cNvSpPr/>
          <p:nvPr/>
        </p:nvSpPr>
        <p:spPr>
          <a:xfrm>
            <a:off x="2217324" y="1755909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Data Mem /</a:t>
            </a:r>
            <a:endParaRPr lang="en-US" sz="1400" spc="-1" dirty="0">
              <a:solidFill>
                <a:schemeClr val="dk1"/>
              </a:solidFill>
              <a:ea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Inst Mem /</a:t>
            </a:r>
            <a:endParaRPr lang="en-US" sz="1400" b="0" strike="noStrike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Shared 128KB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94" name="直線單箭頭接點 51">
            <a:extLst>
              <a:ext uri="{FF2B5EF4-FFF2-40B4-BE49-F238E27FC236}">
                <a16:creationId xmlns:a16="http://schemas.microsoft.com/office/drawing/2014/main" id="{A08B72DD-477E-5AEF-02CB-D6883BD66362}"/>
              </a:ext>
            </a:extLst>
          </p:cNvPr>
          <p:cNvCxnSpPr>
            <a:cxnSpLocks/>
            <a:stCxn id="91" idx="2"/>
            <a:endCxn id="89" idx="0"/>
          </p:cNvCxnSpPr>
          <p:nvPr/>
        </p:nvCxnSpPr>
        <p:spPr>
          <a:xfrm>
            <a:off x="2976744" y="2570949"/>
            <a:ext cx="180" cy="33068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A75E766-E83B-E04C-8A4A-2C300FA40729}"/>
              </a:ext>
            </a:extLst>
          </p:cNvPr>
          <p:cNvSpPr/>
          <p:nvPr/>
        </p:nvSpPr>
        <p:spPr>
          <a:xfrm>
            <a:off x="5091018" y="3858610"/>
            <a:ext cx="1208160" cy="1007963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</a:rPr>
              <a:t>EMC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B7BC6666-9CF9-EE27-835B-44D9039D2EA5}"/>
              </a:ext>
            </a:extLst>
          </p:cNvPr>
          <p:cNvSpPr/>
          <p:nvPr/>
        </p:nvSpPr>
        <p:spPr>
          <a:xfrm>
            <a:off x="5091018" y="251113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512KB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24A8A9E0-019A-7D11-C114-AE960F16CC3E}"/>
              </a:ext>
            </a:extLst>
          </p:cNvPr>
          <p:cNvCxnSpPr>
            <a:cxnSpLocks/>
            <a:stCxn id="23" idx="2"/>
            <a:endCxn id="20" idx="0"/>
          </p:cNvCxnSpPr>
          <p:nvPr/>
        </p:nvCxnSpPr>
        <p:spPr>
          <a:xfrm flipH="1">
            <a:off x="5695098" y="3556210"/>
            <a:ext cx="720" cy="30240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FBA3D-0F12-BC37-F542-0C79282917F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9</a:t>
            </a:fld>
            <a:endParaRPr lang="en-TW">
              <a:latin typeface="+mn-lt"/>
            </a:endParaRPr>
          </a:p>
        </p:txBody>
      </p:sp>
      <p:sp>
        <p:nvSpPr>
          <p:cNvPr id="31" name="箭號: 左-右雙向 30">
            <a:extLst>
              <a:ext uri="{FF2B5EF4-FFF2-40B4-BE49-F238E27FC236}">
                <a16:creationId xmlns:a16="http://schemas.microsoft.com/office/drawing/2014/main" id="{2DA41A05-6416-5C1E-8EAC-1A4252128A0B}"/>
              </a:ext>
            </a:extLst>
          </p:cNvPr>
          <p:cNvSpPr/>
          <p:nvPr/>
        </p:nvSpPr>
        <p:spPr>
          <a:xfrm rot="5400000">
            <a:off x="2179109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箭號: 左-右雙向 9">
            <a:extLst>
              <a:ext uri="{FF2B5EF4-FFF2-40B4-BE49-F238E27FC236}">
                <a16:creationId xmlns:a16="http://schemas.microsoft.com/office/drawing/2014/main" id="{9478FF48-59AA-D23B-2B37-D1D3D43C7CCB}"/>
              </a:ext>
            </a:extLst>
          </p:cNvPr>
          <p:cNvSpPr/>
          <p:nvPr/>
        </p:nvSpPr>
        <p:spPr>
          <a:xfrm rot="5400000">
            <a:off x="2755715" y="5317832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箭號: 左-右雙向 10">
            <a:extLst>
              <a:ext uri="{FF2B5EF4-FFF2-40B4-BE49-F238E27FC236}">
                <a16:creationId xmlns:a16="http://schemas.microsoft.com/office/drawing/2014/main" id="{3DC3A253-8676-1BA7-1395-F47C8BF049E7}"/>
              </a:ext>
            </a:extLst>
          </p:cNvPr>
          <p:cNvSpPr/>
          <p:nvPr/>
        </p:nvSpPr>
        <p:spPr>
          <a:xfrm rot="5400000">
            <a:off x="4953545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左-右雙向 13">
            <a:extLst>
              <a:ext uri="{FF2B5EF4-FFF2-40B4-BE49-F238E27FC236}">
                <a16:creationId xmlns:a16="http://schemas.microsoft.com/office/drawing/2014/main" id="{3C19D0A3-7057-020B-9110-1B0E205EE477}"/>
              </a:ext>
            </a:extLst>
          </p:cNvPr>
          <p:cNvSpPr/>
          <p:nvPr/>
        </p:nvSpPr>
        <p:spPr>
          <a:xfrm rot="5400000">
            <a:off x="5445310" y="5372844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06B00BD-FDE7-4B07-33A6-F5C99AAEFB34}"/>
              </a:ext>
            </a:extLst>
          </p:cNvPr>
          <p:cNvSpPr txBox="1"/>
          <p:nvPr/>
        </p:nvSpPr>
        <p:spPr>
          <a:xfrm>
            <a:off x="1528945" y="5268528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38ECBB6B-C648-DDD4-1044-DDECB7873AE7}"/>
              </a:ext>
            </a:extLst>
          </p:cNvPr>
          <p:cNvSpPr txBox="1"/>
          <p:nvPr/>
        </p:nvSpPr>
        <p:spPr>
          <a:xfrm>
            <a:off x="4495404" y="531350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2C292B4-5C55-E4D4-0031-948718334209}"/>
              </a:ext>
            </a:extLst>
          </p:cNvPr>
          <p:cNvSpPr txBox="1"/>
          <p:nvPr/>
        </p:nvSpPr>
        <p:spPr>
          <a:xfrm>
            <a:off x="3368731" y="525542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0C8ED77-2BC0-CA86-CD18-C3CC4E181EB7}"/>
              </a:ext>
            </a:extLst>
          </p:cNvPr>
          <p:cNvSpPr txBox="1"/>
          <p:nvPr/>
        </p:nvSpPr>
        <p:spPr>
          <a:xfrm>
            <a:off x="6058327" y="5273624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  <p:sp>
        <p:nvSpPr>
          <p:cNvPr id="2" name="矩形: 圓角 23">
            <a:extLst>
              <a:ext uri="{FF2B5EF4-FFF2-40B4-BE49-F238E27FC236}">
                <a16:creationId xmlns:a16="http://schemas.microsoft.com/office/drawing/2014/main" id="{1D2970AF-7377-52C0-77D3-B7E742CE4BFD}"/>
              </a:ext>
            </a:extLst>
          </p:cNvPr>
          <p:cNvSpPr/>
          <p:nvPr/>
        </p:nvSpPr>
        <p:spPr>
          <a:xfrm>
            <a:off x="7653852" y="384327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" name="矩形: 圓角 23">
            <a:extLst>
              <a:ext uri="{FF2B5EF4-FFF2-40B4-BE49-F238E27FC236}">
                <a16:creationId xmlns:a16="http://schemas.microsoft.com/office/drawing/2014/main" id="{76C09D02-6452-2912-EC84-9A94FC086A37}"/>
              </a:ext>
            </a:extLst>
          </p:cNvPr>
          <p:cNvSpPr/>
          <p:nvPr/>
        </p:nvSpPr>
        <p:spPr>
          <a:xfrm>
            <a:off x="7653852" y="2457879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</a:rPr>
              <a:t>NOR</a:t>
            </a:r>
            <a:endParaRPr lang="en-US" sz="1400" spc="-1" dirty="0">
              <a:solidFill>
                <a:srgbClr val="000000"/>
              </a:solidFill>
            </a:endParaRP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</a:rPr>
              <a:t>4MB</a:t>
            </a:r>
          </a:p>
        </p:txBody>
      </p:sp>
      <p:cxnSp>
        <p:nvCxnSpPr>
          <p:cNvPr id="4" name="直線單箭頭接點 48">
            <a:extLst>
              <a:ext uri="{FF2B5EF4-FFF2-40B4-BE49-F238E27FC236}">
                <a16:creationId xmlns:a16="http://schemas.microsoft.com/office/drawing/2014/main" id="{9985DF57-585C-5757-002F-AFF8B93B366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8258652" y="3502959"/>
            <a:ext cx="0" cy="340317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" name="箭號: 左-右雙向 8">
            <a:extLst>
              <a:ext uri="{FF2B5EF4-FFF2-40B4-BE49-F238E27FC236}">
                <a16:creationId xmlns:a16="http://schemas.microsoft.com/office/drawing/2014/main" id="{C1EE47B8-9007-D52B-C6E5-42BDD313FFA5}"/>
              </a:ext>
            </a:extLst>
          </p:cNvPr>
          <p:cNvSpPr/>
          <p:nvPr/>
        </p:nvSpPr>
        <p:spPr>
          <a:xfrm rot="5400000">
            <a:off x="7587182" y="5316298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3AF3847-B1D6-F433-9017-10AE2E12D3BF}"/>
              </a:ext>
            </a:extLst>
          </p:cNvPr>
          <p:cNvSpPr txBox="1"/>
          <p:nvPr/>
        </p:nvSpPr>
        <p:spPr>
          <a:xfrm>
            <a:off x="7157000" y="5262293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DP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FD0DFC2-61B2-9D5F-C002-CBAE2354E191}"/>
              </a:ext>
            </a:extLst>
          </p:cNvPr>
          <p:cNvSpPr txBox="1"/>
          <p:nvPr/>
        </p:nvSpPr>
        <p:spPr>
          <a:xfrm>
            <a:off x="9310249" y="2657253"/>
            <a:ext cx="2299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XIP (Execute in Place) is</a:t>
            </a:r>
            <a:r>
              <a:rPr lang="zh-TW" altLang="en-US" dirty="0"/>
              <a:t> </a:t>
            </a:r>
            <a:r>
              <a:rPr lang="en-US" altLang="zh-TW" dirty="0"/>
              <a:t>supported</a:t>
            </a:r>
            <a:endParaRPr lang="en-US" dirty="0"/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E275E0A-0C6C-05AA-8DB5-2886262EF066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8863452" y="2980419"/>
            <a:ext cx="4467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箭號: 左-右雙向 24">
            <a:extLst>
              <a:ext uri="{FF2B5EF4-FFF2-40B4-BE49-F238E27FC236}">
                <a16:creationId xmlns:a16="http://schemas.microsoft.com/office/drawing/2014/main" id="{32AD87AD-19FC-11F5-2572-0BAFDBDFCA3F}"/>
              </a:ext>
            </a:extLst>
          </p:cNvPr>
          <p:cNvSpPr/>
          <p:nvPr/>
        </p:nvSpPr>
        <p:spPr>
          <a:xfrm rot="5400000">
            <a:off x="7995125" y="5314235"/>
            <a:ext cx="991956" cy="249120"/>
          </a:xfrm>
          <a:prstGeom prst="left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2C183AF0-4C0B-C5D6-F705-89C4F5527C9D}"/>
              </a:ext>
            </a:extLst>
          </p:cNvPr>
          <p:cNvSpPr txBox="1"/>
          <p:nvPr/>
        </p:nvSpPr>
        <p:spPr>
          <a:xfrm>
            <a:off x="8608142" y="5215015"/>
            <a:ext cx="857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IP</a:t>
            </a:r>
          </a:p>
        </p:txBody>
      </p:sp>
    </p:spTree>
    <p:extLst>
      <p:ext uri="{BB962C8B-B14F-4D97-AF65-F5344CB8AC3E}">
        <p14:creationId xmlns:p14="http://schemas.microsoft.com/office/powerpoint/2010/main" val="298182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25FA8-6701-FE87-7508-884C773C8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A37A3AAA-108C-313C-A6F1-D6EB5172A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Instruction </a:t>
            </a:r>
            <a:r>
              <a:rPr lang="en-US" altLang="zh-TW" sz="4000" b="1" spc="-1" dirty="0">
                <a:solidFill>
                  <a:srgbClr val="DDDDDD"/>
                </a:solidFill>
                <a:ea typeface="Calibri"/>
              </a:rPr>
              <a:t>Network</a:t>
            </a: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 / Data Network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4BD7F-4885-2101-FDE4-CC5D8F72E6D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j-lt"/>
              </a:rPr>
              <a:t>10</a:t>
            </a:fld>
            <a:endParaRPr lang="en-TW">
              <a:latin typeface="+mj-lt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26046B6-0CB9-8E26-B12E-49ECD1A08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967" y="1299246"/>
            <a:ext cx="7528066" cy="538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545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CBEE-344E-4473-44B9-BC4555CCD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C8B1B4-C4CF-32E2-281A-8D71EAB23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>
                <a:solidFill>
                  <a:schemeClr val="bg1">
                    <a:lumMod val="85000"/>
                  </a:schemeClr>
                </a:solidFill>
                <a:cs typeface="Calibri" panose="020F0502020204030204" pitchFamily="34" charset="0"/>
              </a:rPr>
              <a:t>Memory-Mapped I/O vs SFR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AF33343-238B-E602-E1A4-D78BF8167B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>
                <a:cs typeface="Times New Roman" panose="02020603050405020304" pitchFamily="18" charset="0"/>
              </a:rPr>
              <a:t>Memory-Mapped I/O (MMIO): </a:t>
            </a:r>
          </a:p>
          <a:p>
            <a:pPr lvl="1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Peripherals are mapped into the memory address space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Accessed using normal load/store instructions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Easy to integrate and extend (add new devices by assigning new addresses) </a:t>
            </a:r>
          </a:p>
          <a:p>
            <a:endParaRPr lang="en-US" sz="2400" dirty="0">
              <a:cs typeface="Times New Roman" panose="02020603050405020304" pitchFamily="18" charset="0"/>
            </a:endParaRPr>
          </a:p>
          <a:p>
            <a:r>
              <a:rPr lang="en-US" sz="2400" dirty="0">
                <a:cs typeface="Times New Roman" panose="02020603050405020304" pitchFamily="18" charset="0"/>
              </a:rPr>
              <a:t>SFR (Special Function Registers) in traditional MCUs (e.g., PIC): </a:t>
            </a:r>
          </a:p>
          <a:p>
            <a:pPr lvl="1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Peripheral control uses dedicated special registers</a:t>
            </a:r>
            <a:r>
              <a:rPr lang="en-US" dirty="0">
                <a:cs typeface="Times New Roman" panose="02020603050405020304" pitchFamily="18" charset="0"/>
              </a:rPr>
              <a:t>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Often requires bank selection / bit-level control </a:t>
            </a:r>
          </a:p>
          <a:p>
            <a:pPr lvl="1"/>
            <a:r>
              <a:rPr lang="en-US" dirty="0">
                <a:cs typeface="Times New Roman" panose="02020603050405020304" pitchFamily="18" charset="0"/>
              </a:rPr>
              <a:t>Less flexible when scaling to more peripherals</a:t>
            </a:r>
          </a:p>
        </p:txBody>
      </p:sp>
    </p:spTree>
    <p:extLst>
      <p:ext uri="{BB962C8B-B14F-4D97-AF65-F5344CB8AC3E}">
        <p14:creationId xmlns:p14="http://schemas.microsoft.com/office/powerpoint/2010/main" val="2803053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A883E-C9AB-0CAE-0BBB-12C92804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BEBA76-2919-629E-6585-B915CDBC2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000" b="1" dirty="0">
                <a:solidFill>
                  <a:schemeClr val="bg1">
                    <a:lumMod val="85000"/>
                  </a:schemeClr>
                </a:solidFill>
                <a:cs typeface="Calibri" panose="020F0502020204030204" pitchFamily="34" charset="0"/>
              </a:rPr>
              <a:t>AXI Mapping</a:t>
            </a:r>
            <a:endParaRPr lang="en-US" sz="4000" b="1" dirty="0">
              <a:solidFill>
                <a:schemeClr val="bg1">
                  <a:lumMod val="85000"/>
                </a:schemeClr>
              </a:solidFill>
              <a:cs typeface="Calibri" panose="020F0502020204030204" pitchFamily="34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8CDDF9-280C-6BDC-C755-4CEC713024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482725"/>
            <a:ext cx="5761037" cy="5113338"/>
          </a:xfrm>
        </p:spPr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Although each peripheral is mapped to a memory address range,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address region does not correspond to physical RAM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Instead, AXI address decoding and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routing logic forwards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transactions to the target peripheral’s register interface (MMIO).</a:t>
            </a:r>
          </a:p>
        </p:txBody>
      </p:sp>
      <p:pic>
        <p:nvPicPr>
          <p:cNvPr id="6" name="圖片 5" descr="一張含有 文字, 圖表, 螢幕擷取畫面, 平行 的圖片&#10;&#10;AI 產生的內容可能不正確。">
            <a:extLst>
              <a:ext uri="{FF2B5EF4-FFF2-40B4-BE49-F238E27FC236}">
                <a16:creationId xmlns:a16="http://schemas.microsoft.com/office/drawing/2014/main" id="{24751282-FBD7-F506-7998-893B5B9A1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0" y="1906172"/>
            <a:ext cx="5640959" cy="3834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454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0021F1-BA58-7AF4-2F56-55F9FF8F2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Microcontroller Overview</a:t>
            </a:r>
            <a:r>
              <a:rPr lang="en-US" altLang="zh-TW" dirty="0"/>
              <a:t> 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24A009-F66A-9ACC-E755-3676A3BD1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Processor: MicroBlaze RISC-V, </a:t>
            </a:r>
            <a:r>
              <a:rPr lang="en-US" sz="2400" dirty="0">
                <a:solidFill>
                  <a:srgbClr val="FF0000"/>
                </a:solidFill>
              </a:rPr>
              <a:t>32-bit</a:t>
            </a:r>
            <a:r>
              <a:rPr lang="en-US" sz="2400" dirty="0"/>
              <a:t>, Single Core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Clock: 100 MHz (12 MHz OSC → Clocking Wizard PLL)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ISA Extensions: </a:t>
            </a:r>
            <a:r>
              <a:rPr lang="en-US" sz="2400" b="1" dirty="0"/>
              <a:t>RV32IM_Zba_Zbb_Zbc_Zbs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Local Memory: 128 KB BRAM (ILMB + DLMB)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Cache: </a:t>
            </a:r>
            <a:r>
              <a:rPr lang="en-US" sz="2400" dirty="0">
                <a:solidFill>
                  <a:srgbClr val="FF0000"/>
                </a:solidFill>
              </a:rPr>
              <a:t>Disabled</a:t>
            </a:r>
            <a:r>
              <a:rPr lang="en-US" sz="2400" dirty="0"/>
              <a:t> (I-Cache &amp; D-Cache both off)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Debug: </a:t>
            </a:r>
            <a:r>
              <a:rPr lang="en-US" sz="2400" dirty="0">
                <a:solidFill>
                  <a:srgbClr val="FF0000"/>
                </a:solidFill>
              </a:rPr>
              <a:t>MDM JTAG </a:t>
            </a:r>
            <a:r>
              <a:rPr lang="en-US" sz="2400" dirty="0"/>
              <a:t>— breakpoints, register, memory R/W</a:t>
            </a:r>
          </a:p>
          <a:p>
            <a:pPr>
              <a:lnSpc>
                <a:spcPct val="150000"/>
              </a:lnSpc>
            </a:pPr>
            <a:r>
              <a:rPr lang="en-US" sz="2400" dirty="0"/>
              <a:t>Interrupt: AXI INTC, 6 sources (3 Timer + 2 UART + 1 GPIO)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5DF62F-4D23-B66F-49B5-B952C7766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5163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1C01-7C92-39CC-4B8F-4B1732B5E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73177F8-6405-582A-CBD3-A88CAB2E8A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DA9CBA-B097-DCEC-6E87-741E3303C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2828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7664A7-ADAC-EC8D-1CE9-BD4E4447E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MDM (MicroBlaze Debug Module)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9F3C96-C183-8CE2-CFE6-8D70C9322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/>
              <a:t>MDM (MicroBlaze Debug Module)</a:t>
            </a:r>
            <a:endParaRPr lang="en-US" sz="2400" dirty="0"/>
          </a:p>
          <a:p>
            <a:pPr lvl="1"/>
            <a:r>
              <a:rPr lang="en-US" sz="2000" dirty="0"/>
              <a:t>Hardware debug bridge: JTAG ↔ MicroBlaze RISC-V core</a:t>
            </a:r>
          </a:p>
          <a:p>
            <a:pPr lvl="1"/>
            <a:r>
              <a:rPr lang="en-US" sz="2000" dirty="0"/>
              <a:t>Connected to MicroBlaze via </a:t>
            </a:r>
            <a:r>
              <a:rPr lang="en-US" sz="2000" b="1" dirty="0"/>
              <a:t>DEBUG port</a:t>
            </a:r>
          </a:p>
          <a:p>
            <a:r>
              <a:rPr lang="en-US" sz="2400" dirty="0"/>
              <a:t>Debug Memory Access (RISC-V Debug Spec</a:t>
            </a:r>
            <a:r>
              <a:rPr lang="zh-TW" altLang="en-US" sz="2400" dirty="0"/>
              <a:t> </a:t>
            </a:r>
            <a:r>
              <a:rPr lang="en-US" altLang="zh-TW" sz="2400" dirty="0"/>
              <a:t>0</a:t>
            </a:r>
            <a:r>
              <a:rPr lang="en-US" sz="2400" dirty="0"/>
              <a:t>.13.2):</a:t>
            </a:r>
          </a:p>
          <a:p>
            <a:pPr lvl="1"/>
            <a:r>
              <a:rPr lang="en-US" sz="2000" b="1" dirty="0"/>
              <a:t>Abstract Access</a:t>
            </a:r>
            <a:r>
              <a:rPr lang="en-US" sz="2000" dirty="0"/>
              <a:t> — debugger issues memory read/write commands directly through the Debug Module, without CPU involvement </a:t>
            </a:r>
          </a:p>
          <a:p>
            <a:pPr lvl="1"/>
            <a:r>
              <a:rPr lang="en-US" sz="2000" b="1" dirty="0"/>
              <a:t>Program Buffer </a:t>
            </a:r>
            <a:r>
              <a:rPr lang="en-US" sz="2000" dirty="0"/>
              <a:t>— Debug Module halts the CPU, then injects load/store instructions for the CPU to execute on its own bus interface</a:t>
            </a:r>
          </a:p>
          <a:p>
            <a:r>
              <a:rPr lang="en-US" sz="2400" dirty="0"/>
              <a:t>Data Path:</a:t>
            </a:r>
          </a:p>
          <a:p>
            <a:pPr lvl="1"/>
            <a:r>
              <a:rPr lang="en-US" sz="2000" dirty="0"/>
              <a:t>PC → USB → JTAG → </a:t>
            </a:r>
            <a:r>
              <a:rPr lang="en-US" sz="2000" b="1" dirty="0"/>
              <a:t>MDM</a:t>
            </a:r>
            <a:r>
              <a:rPr lang="en-US" sz="2000" dirty="0"/>
              <a:t> → </a:t>
            </a:r>
            <a:r>
              <a:rPr lang="en-US" altLang="zh-TW" sz="2000" dirty="0"/>
              <a:t>CPU</a:t>
            </a:r>
            <a:r>
              <a:rPr lang="zh-TW" altLang="en-US" sz="2000" dirty="0"/>
              <a:t> </a:t>
            </a:r>
            <a:r>
              <a:rPr lang="en-US" sz="2000" dirty="0"/>
              <a:t>DEBUG port →</a:t>
            </a:r>
            <a:r>
              <a:rPr lang="zh-TW" altLang="en-US" sz="2000" dirty="0"/>
              <a:t> </a:t>
            </a:r>
            <a:r>
              <a:rPr lang="en-US" altLang="zh-TW" sz="2000" dirty="0"/>
              <a:t>LMB</a:t>
            </a:r>
            <a:r>
              <a:rPr lang="zh-TW" altLang="en-US" sz="2000" dirty="0"/>
              <a:t> </a:t>
            </a:r>
            <a:r>
              <a:rPr lang="en-US" altLang="zh-TW" sz="2000" dirty="0"/>
              <a:t>Bus / AXI Bus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23A423-83FD-700C-AC9E-87E02A89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15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1825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+mn-lt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3657CB-D09E-4293-DDDA-D96BC06E50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>
                <a:latin typeface="+mn-lt"/>
              </a:rPr>
              <a:t>16</a:t>
            </a:fld>
            <a:endParaRPr lang="en-TW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27140-E62E-805B-2C73-2414476FF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F331A3-B22A-7C38-2326-B5002358A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Timer &amp; PWM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2CBC3C-7D41-4506-7172-D2881A911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45C7207C-565A-FDDA-2627-271B76A1375E}"/>
              </a:ext>
            </a:extLst>
          </p:cNvPr>
          <p:cNvSpPr/>
          <p:nvPr/>
        </p:nvSpPr>
        <p:spPr>
          <a:xfrm rot="16200000">
            <a:off x="-1553476" y="38266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21204A95-99AB-0AC7-CE13-D62E2388E816}"/>
              </a:ext>
            </a:extLst>
          </p:cNvPr>
          <p:cNvSpPr/>
          <p:nvPr/>
        </p:nvSpPr>
        <p:spPr>
          <a:xfrm>
            <a:off x="5720703" y="17702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AD801A73-950F-928B-6ED1-DA2F64411BE8}"/>
              </a:ext>
            </a:extLst>
          </p:cNvPr>
          <p:cNvSpPr/>
          <p:nvPr/>
        </p:nvSpPr>
        <p:spPr>
          <a:xfrm>
            <a:off x="2035833" y="338892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</a:rPr>
              <a:t>Core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B883DE4-9E6F-D11C-620F-4DB88A62D09D}"/>
              </a:ext>
            </a:extLst>
          </p:cNvPr>
          <p:cNvSpPr/>
          <p:nvPr/>
        </p:nvSpPr>
        <p:spPr>
          <a:xfrm>
            <a:off x="2035833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B5C36751-BE8C-7392-1C11-0FDEFF2F9F6A}"/>
              </a:ext>
            </a:extLst>
          </p:cNvPr>
          <p:cNvSpPr/>
          <p:nvPr/>
        </p:nvSpPr>
        <p:spPr>
          <a:xfrm>
            <a:off x="3778848" y="1775416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" name="矩形: 圓角 7">
            <a:extLst>
              <a:ext uri="{FF2B5EF4-FFF2-40B4-BE49-F238E27FC236}">
                <a16:creationId xmlns:a16="http://schemas.microsoft.com/office/drawing/2014/main" id="{D63691F1-25F3-A2D3-672C-493D8E48C8AB}"/>
              </a:ext>
            </a:extLst>
          </p:cNvPr>
          <p:cNvSpPr/>
          <p:nvPr/>
        </p:nvSpPr>
        <p:spPr>
          <a:xfrm>
            <a:off x="5873103" y="19226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4" name="矩形: 圓角 7">
            <a:extLst>
              <a:ext uri="{FF2B5EF4-FFF2-40B4-BE49-F238E27FC236}">
                <a16:creationId xmlns:a16="http://schemas.microsoft.com/office/drawing/2014/main" id="{F41E5CEB-F023-F89F-5B1F-A59F8F650E06}"/>
              </a:ext>
            </a:extLst>
          </p:cNvPr>
          <p:cNvSpPr/>
          <p:nvPr/>
        </p:nvSpPr>
        <p:spPr>
          <a:xfrm>
            <a:off x="6025503" y="20750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5" name="箭號: 上-下雙向 14">
            <a:extLst>
              <a:ext uri="{FF2B5EF4-FFF2-40B4-BE49-F238E27FC236}">
                <a16:creationId xmlns:a16="http://schemas.microsoft.com/office/drawing/2014/main" id="{576C96F8-5AF0-328B-0846-1C2E82B91227}"/>
              </a:ext>
            </a:extLst>
          </p:cNvPr>
          <p:cNvSpPr/>
          <p:nvPr/>
        </p:nvSpPr>
        <p:spPr>
          <a:xfrm rot="16200000">
            <a:off x="1182303" y="18669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箭號: 上-下雙向 15">
            <a:extLst>
              <a:ext uri="{FF2B5EF4-FFF2-40B4-BE49-F238E27FC236}">
                <a16:creationId xmlns:a16="http://schemas.microsoft.com/office/drawing/2014/main" id="{11825F29-E490-9B6E-BC35-C4F7605A3CEF}"/>
              </a:ext>
            </a:extLst>
          </p:cNvPr>
          <p:cNvSpPr/>
          <p:nvPr/>
        </p:nvSpPr>
        <p:spPr>
          <a:xfrm rot="16200000">
            <a:off x="1182304" y="346005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A8877B3-8F14-B776-22F0-ECDF00034F3B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A1406306-719D-A532-0829-62AB091EE6FC}"/>
              </a:ext>
            </a:extLst>
          </p:cNvPr>
          <p:cNvCxnSpPr>
            <a:cxnSpLocks/>
            <a:stCxn id="9" idx="1"/>
            <a:endCxn id="12" idx="3"/>
          </p:cNvCxnSpPr>
          <p:nvPr/>
        </p:nvCxnSpPr>
        <p:spPr>
          <a:xfrm flipH="1">
            <a:off x="4988448" y="2292775"/>
            <a:ext cx="732255" cy="51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75A4ED7D-410E-CFC2-1DC2-34292EC13C77}"/>
              </a:ext>
            </a:extLst>
          </p:cNvPr>
          <p:cNvCxnSpPr>
            <a:cxnSpLocks/>
            <a:stCxn id="12" idx="1"/>
            <a:endCxn id="11" idx="3"/>
          </p:cNvCxnSpPr>
          <p:nvPr/>
        </p:nvCxnSpPr>
        <p:spPr>
          <a:xfrm flipH="1">
            <a:off x="3245433" y="2297956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E63BAA1D-6E50-4206-F18B-877D9DCE23F0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>
            <a:off x="2640633" y="2820496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5E549C7E-30D1-96E9-DC32-C1425E73C081}"/>
              </a:ext>
            </a:extLst>
          </p:cNvPr>
          <p:cNvSpPr txBox="1"/>
          <p:nvPr/>
        </p:nvSpPr>
        <p:spPr>
          <a:xfrm>
            <a:off x="2701587" y="292004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12CF6786-7E05-F221-23E6-7CD76ABCF40E}"/>
              </a:ext>
            </a:extLst>
          </p:cNvPr>
          <p:cNvSpPr/>
          <p:nvPr/>
        </p:nvSpPr>
        <p:spPr>
          <a:xfrm>
            <a:off x="2087594" y="50024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3" name="矩形: 圓角 7">
            <a:extLst>
              <a:ext uri="{FF2B5EF4-FFF2-40B4-BE49-F238E27FC236}">
                <a16:creationId xmlns:a16="http://schemas.microsoft.com/office/drawing/2014/main" id="{CB7D7E30-64C5-598B-D5A5-65C0412AD6C5}"/>
              </a:ext>
            </a:extLst>
          </p:cNvPr>
          <p:cNvSpPr/>
          <p:nvPr/>
        </p:nvSpPr>
        <p:spPr>
          <a:xfrm>
            <a:off x="2239994" y="51548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4" name="矩形: 圓角 7">
            <a:extLst>
              <a:ext uri="{FF2B5EF4-FFF2-40B4-BE49-F238E27FC236}">
                <a16:creationId xmlns:a16="http://schemas.microsoft.com/office/drawing/2014/main" id="{CE36A980-A223-2329-AAC0-E13AB1CF87AD}"/>
              </a:ext>
            </a:extLst>
          </p:cNvPr>
          <p:cNvSpPr/>
          <p:nvPr/>
        </p:nvSpPr>
        <p:spPr>
          <a:xfrm>
            <a:off x="2392394" y="530724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5" name="箭號: 上-下雙向 24">
            <a:extLst>
              <a:ext uri="{FF2B5EF4-FFF2-40B4-BE49-F238E27FC236}">
                <a16:creationId xmlns:a16="http://schemas.microsoft.com/office/drawing/2014/main" id="{0484D469-26CF-F61C-CCC1-E1FA20E83F9B}"/>
              </a:ext>
            </a:extLst>
          </p:cNvPr>
          <p:cNvSpPr/>
          <p:nvPr/>
        </p:nvSpPr>
        <p:spPr>
          <a:xfrm rot="16200000">
            <a:off x="1182304" y="51038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A091832F-95D1-6E3B-A409-E747BD74018C}"/>
              </a:ext>
            </a:extLst>
          </p:cNvPr>
          <p:cNvCxnSpPr>
            <a:cxnSpLocks/>
            <a:stCxn id="24" idx="3"/>
            <a:endCxn id="27" idx="1"/>
          </p:cNvCxnSpPr>
          <p:nvPr/>
        </p:nvCxnSpPr>
        <p:spPr>
          <a:xfrm>
            <a:off x="3601994" y="5829780"/>
            <a:ext cx="68293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54CCF5A-E582-9A1C-4E9E-2C59B9E308BE}"/>
              </a:ext>
            </a:extLst>
          </p:cNvPr>
          <p:cNvSpPr txBox="1"/>
          <p:nvPr/>
        </p:nvSpPr>
        <p:spPr>
          <a:xfrm>
            <a:off x="4284925" y="5645114"/>
            <a:ext cx="19896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PWM_0 ~ PWM_2</a:t>
            </a:r>
            <a:endParaRPr 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35948F27-D795-BBD0-313C-D3BD48DA8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87503" y="1482725"/>
            <a:ext cx="4563199" cy="5113338"/>
          </a:xfrm>
        </p:spPr>
        <p:txBody>
          <a:bodyPr/>
          <a:lstStyle/>
          <a:p>
            <a:r>
              <a:rPr lang="en-US" sz="1800" dirty="0"/>
              <a:t>6 AXI Timer Instances — Two Roles: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System Timers </a:t>
            </a:r>
            <a:r>
              <a:rPr lang="en-US" sz="1800" dirty="0"/>
              <a:t>(timer_0 / timer_1 / timer_2)</a:t>
            </a:r>
          </a:p>
          <a:p>
            <a:pPr lvl="2"/>
            <a:r>
              <a:rPr lang="en-US" sz="1800" dirty="0"/>
              <a:t>Connected to AXI Interrupt Controller</a:t>
            </a:r>
          </a:p>
          <a:p>
            <a:pPr lvl="1"/>
            <a:r>
              <a:rPr lang="en-US" sz="1800" dirty="0"/>
              <a:t>3 × </a:t>
            </a:r>
            <a:r>
              <a:rPr lang="en-US" sz="1800" dirty="0">
                <a:solidFill>
                  <a:srgbClr val="FF0000"/>
                </a:solidFill>
              </a:rPr>
              <a:t>PWM Timers </a:t>
            </a:r>
            <a:r>
              <a:rPr lang="en-US" sz="1800" dirty="0"/>
              <a:t>(PWM_0 / PWM1 / PWM_2)</a:t>
            </a:r>
          </a:p>
          <a:p>
            <a:pPr lvl="2"/>
            <a:r>
              <a:rPr lang="en-US" sz="1800" dirty="0"/>
              <a:t>Generate periodic interrupts for scheduling, timeout, or time measurement</a:t>
            </a:r>
          </a:p>
          <a:p>
            <a:pPr lvl="2"/>
            <a:r>
              <a:rPr lang="en-US" sz="1800" dirty="0"/>
              <a:t>Used for servo control (SG90)</a:t>
            </a:r>
          </a:p>
          <a:p>
            <a:pPr lvl="2"/>
            <a:endParaRPr lang="en-US" sz="1800" dirty="0"/>
          </a:p>
          <a:p>
            <a:r>
              <a:rPr lang="en-US" sz="1800" dirty="0"/>
              <a:t>All 6 timers are the same IP, the difference is purely in how they are used — interrupt source vs. PWM output.</a:t>
            </a:r>
          </a:p>
        </p:txBody>
      </p:sp>
    </p:spTree>
    <p:extLst>
      <p:ext uri="{BB962C8B-B14F-4D97-AF65-F5344CB8AC3E}">
        <p14:creationId xmlns:p14="http://schemas.microsoft.com/office/powerpoint/2010/main" val="1470992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29E56-BF30-27CE-8E34-5C6F29090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8B0BE8-BA6E-EBF7-F968-5BE745E8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UART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9A7C5B4-632A-F870-6437-A7144B26F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2E66C528-1415-53A7-8C27-FD60D5A66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3991" y="1438662"/>
            <a:ext cx="5773671" cy="5113338"/>
          </a:xfrm>
        </p:spPr>
        <p:txBody>
          <a:bodyPr/>
          <a:lstStyle/>
          <a:p>
            <a:r>
              <a:rPr lang="en-US" sz="2400" dirty="0"/>
              <a:t>2 × AXI UART 16550 Instances:</a:t>
            </a:r>
          </a:p>
          <a:p>
            <a:pPr lvl="1"/>
            <a:r>
              <a:rPr lang="en-US" dirty="0" err="1"/>
              <a:t>uart_USB</a:t>
            </a:r>
            <a:r>
              <a:rPr lang="en-US" dirty="0"/>
              <a:t> — </a:t>
            </a:r>
            <a:r>
              <a:rPr lang="en-US" dirty="0">
                <a:solidFill>
                  <a:srgbClr val="FF0000"/>
                </a:solidFill>
              </a:rPr>
              <a:t>Console / Debug</a:t>
            </a:r>
          </a:p>
          <a:p>
            <a:pPr lvl="2"/>
            <a:r>
              <a:rPr lang="en-US" dirty="0"/>
              <a:t>Connected to on-board USB-UART via Micro-USB (J3)</a:t>
            </a:r>
          </a:p>
          <a:p>
            <a:pPr lvl="2"/>
            <a:r>
              <a:rPr lang="en-US" dirty="0"/>
              <a:t>No DIP pin exposed — accessed through USB cable</a:t>
            </a:r>
          </a:p>
          <a:p>
            <a:pPr lvl="1"/>
            <a:r>
              <a:rPr lang="en-US" dirty="0"/>
              <a:t>uart_1 — </a:t>
            </a:r>
            <a:r>
              <a:rPr lang="en-US" dirty="0">
                <a:solidFill>
                  <a:srgbClr val="FF0000"/>
                </a:solidFill>
              </a:rPr>
              <a:t>External Communication</a:t>
            </a:r>
          </a:p>
          <a:p>
            <a:pPr lvl="2"/>
            <a:r>
              <a:rPr lang="en-US" dirty="0"/>
              <a:t>TX/RX routed to DIP Pin 11 / Pin 12</a:t>
            </a:r>
          </a:p>
          <a:p>
            <a:pPr lvl="2"/>
            <a:r>
              <a:rPr lang="en-US" dirty="0"/>
              <a:t>Available for connecting external devices (sensors, modules, another MCU)</a:t>
            </a:r>
          </a:p>
          <a:p>
            <a:endParaRPr lang="en-US" dirty="0"/>
          </a:p>
        </p:txBody>
      </p:sp>
      <p:sp>
        <p:nvSpPr>
          <p:cNvPr id="3" name="矩形 12">
            <a:extLst>
              <a:ext uri="{FF2B5EF4-FFF2-40B4-BE49-F238E27FC236}">
                <a16:creationId xmlns:a16="http://schemas.microsoft.com/office/drawing/2014/main" id="{D812F7D5-0541-D384-ABBA-ED3800B5533B}"/>
              </a:ext>
            </a:extLst>
          </p:cNvPr>
          <p:cNvSpPr/>
          <p:nvPr/>
        </p:nvSpPr>
        <p:spPr>
          <a:xfrm rot="16200000">
            <a:off x="-1501832" y="39762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</a:endParaRPr>
          </a:p>
        </p:txBody>
      </p:sp>
      <p:sp>
        <p:nvSpPr>
          <p:cNvPr id="5" name="箭號: 上-下雙向 4">
            <a:extLst>
              <a:ext uri="{FF2B5EF4-FFF2-40B4-BE49-F238E27FC236}">
                <a16:creationId xmlns:a16="http://schemas.microsoft.com/office/drawing/2014/main" id="{FB597642-2B3C-BCCE-ADC9-CD3128F1CD9F}"/>
              </a:ext>
            </a:extLst>
          </p:cNvPr>
          <p:cNvSpPr/>
          <p:nvPr/>
        </p:nvSpPr>
        <p:spPr>
          <a:xfrm rot="16200000">
            <a:off x="1233947" y="20165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箭號: 上-下雙向 5">
            <a:extLst>
              <a:ext uri="{FF2B5EF4-FFF2-40B4-BE49-F238E27FC236}">
                <a16:creationId xmlns:a16="http://schemas.microsoft.com/office/drawing/2014/main" id="{71409D45-7D34-EA2E-1659-479533685070}"/>
              </a:ext>
            </a:extLst>
          </p:cNvPr>
          <p:cNvSpPr/>
          <p:nvPr/>
        </p:nvSpPr>
        <p:spPr>
          <a:xfrm rot="16200000">
            <a:off x="1233948" y="49953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矩形: 圓角 23">
            <a:extLst>
              <a:ext uri="{FF2B5EF4-FFF2-40B4-BE49-F238E27FC236}">
                <a16:creationId xmlns:a16="http://schemas.microsoft.com/office/drawing/2014/main" id="{C38CA27E-5239-6530-1B47-492E32803507}"/>
              </a:ext>
            </a:extLst>
          </p:cNvPr>
          <p:cNvSpPr/>
          <p:nvPr/>
        </p:nvSpPr>
        <p:spPr>
          <a:xfrm>
            <a:off x="1999995" y="19198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29" name="矩形: 圓角 23">
            <a:extLst>
              <a:ext uri="{FF2B5EF4-FFF2-40B4-BE49-F238E27FC236}">
                <a16:creationId xmlns:a16="http://schemas.microsoft.com/office/drawing/2014/main" id="{127C4605-4523-4681-1E8D-0A6D2C95CCD9}"/>
              </a:ext>
            </a:extLst>
          </p:cNvPr>
          <p:cNvSpPr/>
          <p:nvPr/>
        </p:nvSpPr>
        <p:spPr>
          <a:xfrm>
            <a:off x="1999995" y="49242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30" name="文字方塊 22">
            <a:extLst>
              <a:ext uri="{FF2B5EF4-FFF2-40B4-BE49-F238E27FC236}">
                <a16:creationId xmlns:a16="http://schemas.microsoft.com/office/drawing/2014/main" id="{B28D1C94-B35F-A8BA-0676-98A08DCABCA0}"/>
              </a:ext>
            </a:extLst>
          </p:cNvPr>
          <p:cNvSpPr/>
          <p:nvPr/>
        </p:nvSpPr>
        <p:spPr>
          <a:xfrm>
            <a:off x="3799002" y="2289213"/>
            <a:ext cx="2064989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</a:rPr>
              <a:t>UART_R</a:t>
            </a:r>
            <a:r>
              <a:rPr lang="en-US" sz="1400" spc="-1" dirty="0">
                <a:solidFill>
                  <a:srgbClr val="000000"/>
                </a:solidFill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  <p:cxnSp>
        <p:nvCxnSpPr>
          <p:cNvPr id="31" name="直線單箭頭接點 14">
            <a:extLst>
              <a:ext uri="{FF2B5EF4-FFF2-40B4-BE49-F238E27FC236}">
                <a16:creationId xmlns:a16="http://schemas.microsoft.com/office/drawing/2014/main" id="{878039A3-A8BE-E2DA-F0E5-1A7A642C5694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>
            <a:off x="3209595" y="5446808"/>
            <a:ext cx="599508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32" name="直線單箭頭接點 14">
            <a:extLst>
              <a:ext uri="{FF2B5EF4-FFF2-40B4-BE49-F238E27FC236}">
                <a16:creationId xmlns:a16="http://schemas.microsoft.com/office/drawing/2014/main" id="{90399C22-AE50-65C3-AC7B-F05491EEB8CC}"/>
              </a:ext>
            </a:extLst>
          </p:cNvPr>
          <p:cNvCxnSpPr>
            <a:cxnSpLocks/>
            <a:stCxn id="7" idx="3"/>
            <a:endCxn id="30" idx="1"/>
          </p:cNvCxnSpPr>
          <p:nvPr/>
        </p:nvCxnSpPr>
        <p:spPr>
          <a:xfrm>
            <a:off x="3209595" y="2442375"/>
            <a:ext cx="589407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3" name="文字方塊 22">
            <a:extLst>
              <a:ext uri="{FF2B5EF4-FFF2-40B4-BE49-F238E27FC236}">
                <a16:creationId xmlns:a16="http://schemas.microsoft.com/office/drawing/2014/main" id="{9351E04D-D1B8-0D31-5BAA-C3A00B26C80D}"/>
              </a:ext>
            </a:extLst>
          </p:cNvPr>
          <p:cNvSpPr/>
          <p:nvPr/>
        </p:nvSpPr>
        <p:spPr>
          <a:xfrm>
            <a:off x="3809103" y="5293646"/>
            <a:ext cx="11820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</a:t>
            </a:r>
            <a:endParaRPr lang="en-US" sz="1400" b="0" strike="noStrike" spc="-1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6620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24320-931D-0B8F-2B51-A5AEEBB8F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13F62-8FAE-FD55-95AA-D9F670A5A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XADC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B7968B-40C3-2AE7-53BB-0B55A56D3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XADC — On-chip Analog-to-Digital Converter</a:t>
            </a:r>
          </a:p>
          <a:p>
            <a:pPr lvl="1"/>
            <a:r>
              <a:rPr lang="en-US" sz="2000" dirty="0"/>
              <a:t>Built-in 12-bit ADC inside Artix-7 FPGA</a:t>
            </a:r>
          </a:p>
          <a:p>
            <a:r>
              <a:rPr lang="en-US" sz="2400" dirty="0"/>
              <a:t>Enabled Channels (Continuous Sequencer):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VAUX4 (DIP Pin 15) — external analog input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VAUX12 (DIP Pin 16) — external analog input</a:t>
            </a:r>
          </a:p>
          <a:p>
            <a:pPr lvl="1"/>
            <a:r>
              <a:rPr lang="en-US" sz="2000" dirty="0"/>
              <a:t>Temperature — on-chip die temperature</a:t>
            </a:r>
          </a:p>
          <a:p>
            <a:pPr lvl="1"/>
            <a:r>
              <a:rPr lang="en-US" sz="2000" dirty="0"/>
              <a:t>VCCINT — core voltage monitor (1.0 V)</a:t>
            </a:r>
          </a:p>
          <a:p>
            <a:pPr lvl="1"/>
            <a:r>
              <a:rPr lang="en-US" sz="2000" dirty="0"/>
              <a:t>VCCAUX — auxiliary voltage monitor (1.8 V)</a:t>
            </a:r>
          </a:p>
          <a:p>
            <a:r>
              <a:rPr lang="en-US" sz="2400" dirty="0"/>
              <a:t>Key Specs:</a:t>
            </a:r>
          </a:p>
          <a:p>
            <a:pPr lvl="1"/>
            <a:r>
              <a:rPr lang="en-US" sz="2000" dirty="0"/>
              <a:t>Total conversion rate: 500 Kilo Samples Per Second (KSPS)</a:t>
            </a:r>
          </a:p>
          <a:p>
            <a:pPr lvl="1"/>
            <a:r>
              <a:rPr lang="en-US" sz="2000" dirty="0"/>
              <a:t>Per-channel effective rate: ~100 KSPS (500K ÷ 5 channels)</a:t>
            </a:r>
          </a:p>
          <a:p>
            <a:pPr lvl="1"/>
            <a:r>
              <a:rPr lang="en-US" sz="2000" dirty="0"/>
              <a:t>Input range: 0–1 V at FPGA pins (</a:t>
            </a:r>
            <a:r>
              <a:rPr lang="en-US" sz="2000" dirty="0">
                <a:solidFill>
                  <a:srgbClr val="FF0000"/>
                </a:solidFill>
              </a:rPr>
              <a:t>3.3 V on DIP pin scaled by on-board voltage divider</a:t>
            </a:r>
            <a:r>
              <a:rPr lang="en-US" sz="2000" dirty="0"/>
              <a:t>)</a:t>
            </a:r>
          </a:p>
          <a:p>
            <a:pPr lvl="1"/>
            <a:r>
              <a:rPr lang="en-US" sz="2000" dirty="0"/>
              <a:t>Resolution: </a:t>
            </a:r>
            <a:r>
              <a:rPr lang="en-US" sz="2000" dirty="0">
                <a:solidFill>
                  <a:srgbClr val="FF0000"/>
                </a:solidFill>
              </a:rPr>
              <a:t>12-bit </a:t>
            </a:r>
            <a:r>
              <a:rPr lang="en-US" sz="2000" dirty="0"/>
              <a:t>(4096 levels)</a:t>
            </a:r>
          </a:p>
          <a:p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74D78B-0156-9EE1-4D58-8E50690C2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19</a:t>
            </a:fld>
            <a:endParaRPr lang="zh-TW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1EB34-7169-61B3-5D6A-7D7C817F8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7999" y="1526482"/>
            <a:ext cx="5343867" cy="2933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71B1FC-80EF-F883-A39D-4D5BF86A0DFE}"/>
              </a:ext>
            </a:extLst>
          </p:cNvPr>
          <p:cNvCxnSpPr>
            <a:cxnSpLocks/>
          </p:cNvCxnSpPr>
          <p:nvPr/>
        </p:nvCxnSpPr>
        <p:spPr>
          <a:xfrm flipV="1">
            <a:off x="8239539" y="4459586"/>
            <a:ext cx="1170637" cy="132498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7917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4AE8A-5624-58A9-615E-C6E2A04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System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F4F9EF5-A7F8-306B-F829-676AA660C69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US" smtClean="0"/>
              <a:t>20</a:t>
            </a:fld>
            <a:endParaRPr lang="en-US"/>
          </a:p>
        </p:txBody>
      </p:sp>
      <p:sp>
        <p:nvSpPr>
          <p:cNvPr id="5" name="矩形 12">
            <a:extLst>
              <a:ext uri="{FF2B5EF4-FFF2-40B4-BE49-F238E27FC236}">
                <a16:creationId xmlns:a16="http://schemas.microsoft.com/office/drawing/2014/main" id="{640DE783-884D-7764-F496-1B5DACBC01B0}"/>
              </a:ext>
            </a:extLst>
          </p:cNvPr>
          <p:cNvSpPr/>
          <p:nvPr/>
        </p:nvSpPr>
        <p:spPr>
          <a:xfrm rot="16200000">
            <a:off x="-1692529" y="3954406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57B9A94B-4B14-EE31-11B0-6399BE35E85C}"/>
              </a:ext>
            </a:extLst>
          </p:cNvPr>
          <p:cNvSpPr/>
          <p:nvPr/>
        </p:nvSpPr>
        <p:spPr>
          <a:xfrm>
            <a:off x="5014344" y="19907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C9194198-093B-54AD-64A2-6633C7AC4305}"/>
              </a:ext>
            </a:extLst>
          </p:cNvPr>
          <p:cNvSpPr/>
          <p:nvPr/>
        </p:nvSpPr>
        <p:spPr>
          <a:xfrm>
            <a:off x="1591298" y="4519972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24D7A0B-EFA5-1009-3723-C4E2D808AFB5}"/>
              </a:ext>
            </a:extLst>
          </p:cNvPr>
          <p:cNvSpPr/>
          <p:nvPr/>
        </p:nvSpPr>
        <p:spPr>
          <a:xfrm>
            <a:off x="1591298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0262D65-BAC5-28C1-827A-6BD784446AF4}"/>
              </a:ext>
            </a:extLst>
          </p:cNvPr>
          <p:cNvSpPr/>
          <p:nvPr/>
        </p:nvSpPr>
        <p:spPr>
          <a:xfrm>
            <a:off x="3334313" y="2906460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7">
            <a:extLst>
              <a:ext uri="{FF2B5EF4-FFF2-40B4-BE49-F238E27FC236}">
                <a16:creationId xmlns:a16="http://schemas.microsoft.com/office/drawing/2014/main" id="{752ACCBD-3E43-6897-9023-DFFB8E92704E}"/>
              </a:ext>
            </a:extLst>
          </p:cNvPr>
          <p:cNvSpPr/>
          <p:nvPr/>
        </p:nvSpPr>
        <p:spPr>
          <a:xfrm>
            <a:off x="5166744" y="21431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7">
            <a:extLst>
              <a:ext uri="{FF2B5EF4-FFF2-40B4-BE49-F238E27FC236}">
                <a16:creationId xmlns:a16="http://schemas.microsoft.com/office/drawing/2014/main" id="{83FFB1D1-61C7-BF56-C90C-9E82518E3DEF}"/>
              </a:ext>
            </a:extLst>
          </p:cNvPr>
          <p:cNvSpPr/>
          <p:nvPr/>
        </p:nvSpPr>
        <p:spPr>
          <a:xfrm>
            <a:off x="5319144" y="229552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矩形: 圓角 7">
            <a:extLst>
              <a:ext uri="{FF2B5EF4-FFF2-40B4-BE49-F238E27FC236}">
                <a16:creationId xmlns:a16="http://schemas.microsoft.com/office/drawing/2014/main" id="{578E5D4B-D7FE-5AEC-0EEC-DB2A50276628}"/>
              </a:ext>
            </a:extLst>
          </p:cNvPr>
          <p:cNvSpPr/>
          <p:nvPr/>
        </p:nvSpPr>
        <p:spPr>
          <a:xfrm>
            <a:off x="5014344" y="3528551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6B99B95A-54EB-C171-45FC-4CC5943EF69D}"/>
              </a:ext>
            </a:extLst>
          </p:cNvPr>
          <p:cNvSpPr/>
          <p:nvPr/>
        </p:nvSpPr>
        <p:spPr>
          <a:xfrm rot="16200000">
            <a:off x="890510" y="297759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D1839E77-16A2-0378-F900-24A881E033D3}"/>
              </a:ext>
            </a:extLst>
          </p:cNvPr>
          <p:cNvSpPr/>
          <p:nvPr/>
        </p:nvSpPr>
        <p:spPr>
          <a:xfrm rot="16200000">
            <a:off x="890511" y="4591102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1A5DC29-C0FC-FBA8-C49F-FFD986CF009E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5D74019-B39E-5E42-0AA1-E29AA3179CD1}"/>
              </a:ext>
            </a:extLst>
          </p:cNvPr>
          <p:cNvCxnSpPr>
            <a:cxnSpLocks/>
            <a:stCxn id="6" idx="1"/>
            <a:endCxn id="9" idx="3"/>
          </p:cNvCxnSpPr>
          <p:nvPr/>
        </p:nvCxnSpPr>
        <p:spPr>
          <a:xfrm flipH="1">
            <a:off x="4543913" y="2513267"/>
            <a:ext cx="470431" cy="9157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F42F8869-F255-E0F6-5A29-4187A397EF8D}"/>
              </a:ext>
            </a:extLst>
          </p:cNvPr>
          <p:cNvCxnSpPr>
            <a:cxnSpLocks/>
            <a:stCxn id="12" idx="1"/>
            <a:endCxn id="9" idx="3"/>
          </p:cNvCxnSpPr>
          <p:nvPr/>
        </p:nvCxnSpPr>
        <p:spPr>
          <a:xfrm flipH="1" flipV="1">
            <a:off x="4543913" y="3429000"/>
            <a:ext cx="470431" cy="6220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62F560EC-CA82-A17E-B491-923D6FEA27E4}"/>
              </a:ext>
            </a:extLst>
          </p:cNvPr>
          <p:cNvCxnSpPr>
            <a:cxnSpLocks/>
            <a:stCxn id="9" idx="1"/>
            <a:endCxn id="8" idx="3"/>
          </p:cNvCxnSpPr>
          <p:nvPr/>
        </p:nvCxnSpPr>
        <p:spPr>
          <a:xfrm flipH="1">
            <a:off x="2800898" y="3429000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9A90BAAD-F0D9-06A4-5890-8E6585A4C328}"/>
              </a:ext>
            </a:extLst>
          </p:cNvPr>
          <p:cNvCxnSpPr>
            <a:cxnSpLocks/>
            <a:stCxn id="8" idx="2"/>
            <a:endCxn id="7" idx="0"/>
          </p:cNvCxnSpPr>
          <p:nvPr/>
        </p:nvCxnSpPr>
        <p:spPr>
          <a:xfrm>
            <a:off x="2196098" y="3951540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8310EC64-7F2B-D5EF-EBEC-FDF733BC1BAC}"/>
              </a:ext>
            </a:extLst>
          </p:cNvPr>
          <p:cNvSpPr txBox="1"/>
          <p:nvPr/>
        </p:nvSpPr>
        <p:spPr>
          <a:xfrm>
            <a:off x="2257052" y="4051090"/>
            <a:ext cx="441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21" name="矩形: 圓角 23">
            <a:extLst>
              <a:ext uri="{FF2B5EF4-FFF2-40B4-BE49-F238E27FC236}">
                <a16:creationId xmlns:a16="http://schemas.microsoft.com/office/drawing/2014/main" id="{3D4FCA3F-9859-5659-D52D-2E478FB50490}"/>
              </a:ext>
            </a:extLst>
          </p:cNvPr>
          <p:cNvSpPr/>
          <p:nvPr/>
        </p:nvSpPr>
        <p:spPr>
          <a:xfrm>
            <a:off x="5014344" y="47615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矩形: 圓角 23">
            <a:extLst>
              <a:ext uri="{FF2B5EF4-FFF2-40B4-BE49-F238E27FC236}">
                <a16:creationId xmlns:a16="http://schemas.microsoft.com/office/drawing/2014/main" id="{E1481715-C94F-976F-6D80-B5A2936340B8}"/>
              </a:ext>
            </a:extLst>
          </p:cNvPr>
          <p:cNvSpPr/>
          <p:nvPr/>
        </p:nvSpPr>
        <p:spPr>
          <a:xfrm>
            <a:off x="5133535" y="491397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88B98C8B-572A-5575-53E1-722260EB584E}"/>
              </a:ext>
            </a:extLst>
          </p:cNvPr>
          <p:cNvCxnSpPr>
            <a:cxnSpLocks/>
            <a:stCxn id="21" idx="1"/>
            <a:endCxn id="9" idx="3"/>
          </p:cNvCxnSpPr>
          <p:nvPr/>
        </p:nvCxnSpPr>
        <p:spPr>
          <a:xfrm flipH="1" flipV="1">
            <a:off x="4543913" y="3429000"/>
            <a:ext cx="470431" cy="1855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1">
            <a:extLst>
              <a:ext uri="{FF2B5EF4-FFF2-40B4-BE49-F238E27FC236}">
                <a16:creationId xmlns:a16="http://schemas.microsoft.com/office/drawing/2014/main" id="{10590313-5D0E-A4E2-5373-F26302A5FA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47935" y="1481032"/>
            <a:ext cx="5663241" cy="5028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Interrupt handling flow (Normal Mode) 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Peripheral asserts interrupt line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interrupt lines → AXI Interrupt Controller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 Interrupt Controller asserts IRQ → CPU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jumps to fixed ISR entry point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eads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register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source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Branches to corresponding handler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Handler processes the event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Clear peripheral interrupt first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Then clear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Return from ISR, CPU resumes normal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90519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5EF72-2B32-348A-5BAC-1589A5B9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8BCE8-09C4-1902-EA3D-7B8EA7F502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E6D8D9-625E-A8B2-6D85-29C0588CC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310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FFE6F-8DBA-7061-5BC7-4F987527D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Memory Hierarchy</a:t>
            </a:r>
            <a:endParaRPr lang="en-TW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C9A37E-5DF7-F2E5-4038-A385A819522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856DA5A-CF52-47BD-AC49-21DC5CAD2230}" type="slidenum">
              <a:rPr lang="en-TW" smtClean="0"/>
              <a:t>22</a:t>
            </a:fld>
            <a:endParaRPr lang="en-TW"/>
          </a:p>
        </p:txBody>
      </p:sp>
      <p:sp>
        <p:nvSpPr>
          <p:cNvPr id="3" name="動作按鈕: 說明 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B32337C-19B9-3E2D-F004-FE7014D04844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806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43978-5BC8-C14A-9A9F-83573E3A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BE93B70-F2E5-DAA6-87C4-56B49CF62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AC3E37-C2E3-5B6E-FDC4-9F676964C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23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69462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ea typeface="Calibri"/>
              </a:rPr>
              <a:t>Hardware Report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AF401A-66FE-F592-9DBE-C400667C377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24</a:t>
            </a:fld>
            <a:endParaRPr lang="en-TW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5C60-43DF-1C51-6210-6ACC57B41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05079CE-6A94-6151-21AD-15EB6EFFB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E52A9-4012-8FE7-40E1-A68BDEAA2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25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36380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AE03-C579-AA4B-69B3-D1D72D1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5CBEF84A-A771-0317-6BEE-0A132B0D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826" y="1542473"/>
            <a:ext cx="9406348" cy="5315527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EE4AFDB-0585-DC74-0BE3-E5BAFECB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217197"/>
            <a:ext cx="10972080" cy="707886"/>
          </a:xfrm>
        </p:spPr>
        <p:txBody>
          <a:bodyPr/>
          <a:lstStyle/>
          <a:p>
            <a:r>
              <a:rPr lang="en-US" altLang="zh-TW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142F10-24DF-95C6-6B52-BA59C526F4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4201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BF885F3-C385-1956-B801-98996BADBBF2}"/>
              </a:ext>
            </a:extLst>
          </p:cNvPr>
          <p:cNvSpPr txBox="1">
            <a:spLocks/>
          </p:cNvSpPr>
          <p:nvPr/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sz="4000" b="1" spc="-1" dirty="0" err="1">
                <a:solidFill>
                  <a:srgbClr val="DDDDDD"/>
                </a:solidFill>
                <a:ea typeface="Calibri"/>
              </a:rPr>
              <a:t>Ripes</a:t>
            </a:r>
            <a:endParaRPr lang="en-US" sz="4000" dirty="0"/>
          </a:p>
        </p:txBody>
      </p:sp>
      <p:pic>
        <p:nvPicPr>
          <p:cNvPr id="9" name="圖片 8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76A925FA-6E34-B744-4808-C88EE86A1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54" y="1563476"/>
            <a:ext cx="9446491" cy="52945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C2424-FD8F-FEF9-4B77-C809F5A16D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66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939D73-5598-D30F-44C5-210D7B6F4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" dirty="0">
                <a:ea typeface="Calibri"/>
              </a:rPr>
              <a:t>Software Design Flow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2008730-AAE7-7516-D2AF-FB9195A9D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</a:t>
            </a: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lvl="2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sz="1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lvl="2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1745AA-9BF8-ED6A-ED2C-9F11993FD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28</a:t>
            </a:fld>
            <a:endParaRPr lang="zh-TW" altLang="en-US" dirty="0"/>
          </a:p>
        </p:txBody>
      </p:sp>
      <p:pic>
        <p:nvPicPr>
          <p:cNvPr id="5" name="Picture 9" descr="Vitis Embedded (SDK)">
            <a:extLst>
              <a:ext uri="{FF2B5EF4-FFF2-40B4-BE49-F238E27FC236}">
                <a16:creationId xmlns:a16="http://schemas.microsoft.com/office/drawing/2014/main" id="{8302A30B-D786-1605-BEE4-4B6FFFD0924A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066308" y="216670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816F0971-5BE9-2F7F-4563-0CAD6091B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7755" y="4402107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16522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4CDC7642-BBA5-DB9C-286B-2338647CF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31" y="1388187"/>
            <a:ext cx="4890969" cy="4496974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CA686B1-C7BC-D609-604E-D3646F4F4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30B7BF-166D-8069-BD04-DDF1638A2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482725"/>
            <a:ext cx="11254061" cy="5113338"/>
          </a:xfrm>
        </p:spPr>
        <p:txBody>
          <a:bodyPr/>
          <a:lstStyle/>
          <a:p>
            <a:r>
              <a:rPr lang="en-US" sz="2400" dirty="0"/>
              <a:t>XSDB (Xilinx System Debugger)</a:t>
            </a:r>
          </a:p>
          <a:p>
            <a:pPr lvl="1"/>
            <a:r>
              <a:rPr lang="en-US" sz="2000" dirty="0">
                <a:solidFill>
                  <a:srgbClr val="FF0000"/>
                </a:solidFill>
              </a:rPr>
              <a:t>Command-line debug interface over JTAG</a:t>
            </a:r>
          </a:p>
          <a:p>
            <a:pPr lvl="1"/>
            <a:r>
              <a:rPr lang="en-US" sz="2000" dirty="0"/>
              <a:t>Connects to MicroBlaze via MDM (MicroBlaze Debug Module)</a:t>
            </a:r>
          </a:p>
          <a:p>
            <a:pPr lvl="1"/>
            <a:r>
              <a:rPr lang="en-US" sz="2000" dirty="0"/>
              <a:t>Capabilities: </a:t>
            </a:r>
          </a:p>
          <a:p>
            <a:pPr lvl="2"/>
            <a:r>
              <a:rPr lang="en-US" sz="1800" dirty="0">
                <a:solidFill>
                  <a:srgbClr val="FF0000"/>
                </a:solidFill>
              </a:rPr>
              <a:t>Download ELF directly to BRAM/SRAM/</a:t>
            </a:r>
            <a:r>
              <a:rPr lang="en-US" altLang="zh-TW" sz="1800" dirty="0">
                <a:solidFill>
                  <a:srgbClr val="FF0000"/>
                </a:solidFill>
              </a:rPr>
              <a:t>Flash</a:t>
            </a:r>
            <a:r>
              <a:rPr lang="en-US" sz="1800" dirty="0">
                <a:solidFill>
                  <a:srgbClr val="FF0000"/>
                </a:solidFill>
              </a:rPr>
              <a:t> — no Flash needed</a:t>
            </a:r>
          </a:p>
          <a:p>
            <a:pPr lvl="2"/>
            <a:r>
              <a:rPr lang="en-US" sz="1800" dirty="0"/>
              <a:t>Halt, step, and resume CPU execution</a:t>
            </a:r>
          </a:p>
          <a:p>
            <a:pPr lvl="2"/>
            <a:r>
              <a:rPr lang="en-US" sz="1800" dirty="0"/>
              <a:t>Read/write memory and registers in real time</a:t>
            </a:r>
          </a:p>
          <a:p>
            <a:pPr lvl="2"/>
            <a:r>
              <a:rPr lang="en-US" sz="1800" dirty="0"/>
              <a:t>Enables rapid code-test-fix cycles during development</a:t>
            </a:r>
          </a:p>
          <a:p>
            <a:pPr lvl="2"/>
            <a:r>
              <a:rPr lang="en-US" sz="1800" dirty="0"/>
              <a:t>No bootloader required </a:t>
            </a:r>
          </a:p>
          <a:p>
            <a:endParaRPr 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823FCD-DB9C-BFC9-5EF2-323FCA40B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29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893020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8769B-96D5-FB86-647F-9E84199D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CAFB584-589A-4323-19D7-1DC80633D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D7D01D4-C40B-FE2A-564A-D957653CE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30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47852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1118F95-AB11-90E6-5887-36D02D25B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JTAG Debug Flow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1F3C59-C14C-BE1C-0C26-DCE3E0217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31</a:t>
            </a:fld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73259AF1-3907-D91A-3E8D-2EE84575FFD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34963" y="1482725"/>
            <a:ext cx="116157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linkClick r:id="rId2"/>
              </a:rPr>
              <a:t>RISC-V-MCU-on-Cmod-A7/Vitis-Software-Dev-Guide/JTAG-Debug-Mode/JTAG-Debug-Mode.md at main · ukp66482/RISC-V-MCU-on-Cmod-A7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970437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DE758-6AE4-6654-C2BB-DDED32CB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898657-CAF6-5C81-2893-AACE2D6BF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Microcontroller Overview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MDM / GPIO / Interrupt System / </a:t>
            </a:r>
            <a:r>
              <a:rPr lang="zh-TW" alt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>
              <a:spcBef>
                <a:spcPts val="1200"/>
              </a:spcBef>
            </a:pPr>
            <a:r>
              <a:rPr lang="en-US" altLang="zh-TW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 Report</a:t>
            </a:r>
            <a:endParaRPr lang="en-US" sz="2400" dirty="0">
              <a:solidFill>
                <a:schemeClr val="bg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chemeClr val="bg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JTAG Debug Flow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EDA860F-AA32-0CC6-DFEA-B152567FA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90941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03DCC72-29F7-D867-D27E-E276AEB886E7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28BB30-CB0B-8427-25AF-A0CA255B402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rPr lang="en-TW" smtClean="0"/>
              <a:t>33</a:t>
            </a:fld>
            <a:endParaRPr lang="en-TW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7893A-8BF1-8DC8-2B43-CEC364136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231ED6-7A51-971B-6D84-5CBC6DAFE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000" y="108000"/>
            <a:ext cx="10972800" cy="707886"/>
          </a:xfrm>
        </p:spPr>
        <p:txBody>
          <a:bodyPr/>
          <a:lstStyle/>
          <a:p>
            <a:r>
              <a:rPr lang="en-US" altLang="zh-TW" dirty="0"/>
              <a:t>Reference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2F73930-F4A3-EFC6-5CCF-C23BB7EDE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5" y="1482725"/>
            <a:ext cx="11254061" cy="5113338"/>
          </a:xfrm>
        </p:spPr>
        <p:txBody>
          <a:bodyPr/>
          <a:lstStyle/>
          <a:p>
            <a:r>
              <a:rPr lang="en-US" sz="2000" dirty="0">
                <a:hlinkClick r:id="rId2"/>
              </a:rPr>
              <a:t>The RISC-V Instruction Set Manual, Volume I :: RISC-V Ratified Specifications Library</a:t>
            </a:r>
            <a:endParaRPr lang="en-US" sz="2000" dirty="0"/>
          </a:p>
          <a:p>
            <a:r>
              <a:rPr lang="en-US" sz="2000" dirty="0">
                <a:hlinkClick r:id="rId3"/>
              </a:rPr>
              <a:t>The RISC-V Instruction Set Manual, Volume II :: RISC-V Ratified Specifications Library</a:t>
            </a:r>
            <a:endParaRPr lang="en-US" sz="2000" dirty="0"/>
          </a:p>
          <a:p>
            <a:r>
              <a:rPr lang="en-US" sz="2000" dirty="0">
                <a:hlinkClick r:id="rId4"/>
              </a:rPr>
              <a:t>riscv-debug-release.pdf</a:t>
            </a:r>
            <a:endParaRPr lang="en-US" sz="2000" dirty="0"/>
          </a:p>
          <a:p>
            <a:r>
              <a:rPr lang="en-US" sz="2000" dirty="0">
                <a:hlinkClick r:id="rId5"/>
              </a:rPr>
              <a:t>Introduction • MicroBlaze V Processor Reference Guide (UG1629)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6"/>
              </a:rPr>
              <a:t>Introduction • MicroBlaze Debug Module V (MDM V) LogiCORE IP Product Guide (PG428)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7"/>
              </a:rPr>
              <a:t>Getting Started with Vitis • Vitis Unified Software Platform Documentation: Embedded Software Development (UG1400) • Reader • AMD Technical Information Portal</a:t>
            </a:r>
            <a:endParaRPr lang="en-US" sz="2000" dirty="0"/>
          </a:p>
          <a:p>
            <a:r>
              <a:rPr lang="en-US" sz="2000" dirty="0">
                <a:hlinkClick r:id="rId8"/>
              </a:rPr>
              <a:t>BSP and Libraries Overview • Standalone Library Documentation: BSP and Libraries Document Collection (UG643) • Reader • AMD Technical Information Portal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25DA5F-4290-B259-5B5A-700398A00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pPr/>
              <a:t>34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671410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2A2B7-B1B2-C299-ED8F-80797224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72746-841A-E49C-B806-C9C1ABC31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Issue to Address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EF9F7C0-3669-DD43-D76D-66F562892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Interrupt (GPIO / Timer) </a:t>
            </a:r>
          </a:p>
          <a:p>
            <a:r>
              <a:rPr lang="en-US" sz="2400" dirty="0"/>
              <a:t>GPIO input </a:t>
            </a:r>
          </a:p>
          <a:p>
            <a:r>
              <a:rPr lang="en-US" sz="2400" dirty="0" err="1"/>
              <a:t>uart</a:t>
            </a:r>
            <a:r>
              <a:rPr lang="en-US" sz="2400" dirty="0"/>
              <a:t> 16550 Baud Rate </a:t>
            </a:r>
            <a:r>
              <a:rPr lang="zh-TW" altLang="en-US" sz="2400" dirty="0"/>
              <a:t>更改</a:t>
            </a:r>
            <a:endParaRPr lang="en-US" altLang="zh-TW" sz="2400" dirty="0"/>
          </a:p>
          <a:p>
            <a:r>
              <a:rPr lang="zh-TW" altLang="en-US" sz="2400" dirty="0"/>
              <a:t> </a:t>
            </a:r>
            <a:r>
              <a:rPr lang="en-US" sz="2400" dirty="0"/>
              <a:t>XADC </a:t>
            </a:r>
            <a:r>
              <a:rPr lang="zh-TW" altLang="en-US" sz="2400" dirty="0"/>
              <a:t>五個</a:t>
            </a:r>
            <a:r>
              <a:rPr lang="en-US" sz="2400" dirty="0"/>
              <a:t>channel</a:t>
            </a:r>
            <a:r>
              <a:rPr lang="zh-TW" altLang="en-US" sz="2400" dirty="0"/>
              <a:t>讀值 </a:t>
            </a:r>
            <a:endParaRPr lang="en-US" altLang="zh-TW" sz="2400" dirty="0"/>
          </a:p>
          <a:p>
            <a:r>
              <a:rPr lang="en-US" sz="2400" dirty="0"/>
              <a:t>QSPI </a:t>
            </a:r>
            <a:r>
              <a:rPr lang="zh-TW" altLang="en-US" sz="2400" dirty="0"/>
              <a:t>內建 </a:t>
            </a:r>
            <a:r>
              <a:rPr lang="en-US" sz="2400" dirty="0"/>
              <a:t>Bitstream </a:t>
            </a:r>
          </a:p>
          <a:p>
            <a:r>
              <a:rPr lang="en-US" sz="2400" dirty="0"/>
              <a:t>EMC SRAM </a:t>
            </a:r>
            <a:r>
              <a:rPr lang="zh-TW" altLang="en-US" sz="2400" dirty="0"/>
              <a:t>使用 </a:t>
            </a:r>
            <a:endParaRPr lang="en-US" altLang="zh-TW" sz="2400" dirty="0"/>
          </a:p>
          <a:p>
            <a:r>
              <a:rPr lang="en-US" sz="2400" dirty="0"/>
              <a:t>Memory Hier </a:t>
            </a:r>
            <a:r>
              <a:rPr lang="zh-TW" altLang="en-US" sz="2400" dirty="0"/>
              <a:t>設計 </a:t>
            </a:r>
            <a:endParaRPr lang="en-US" altLang="zh-TW" sz="2400" dirty="0"/>
          </a:p>
          <a:p>
            <a:r>
              <a:rPr lang="en-US" sz="2400" dirty="0"/>
              <a:t>Standalone Boot Sequence</a:t>
            </a:r>
            <a:r>
              <a:rPr lang="zh-TW" altLang="en-US" sz="2400" dirty="0"/>
              <a:t>流程</a:t>
            </a:r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1A5182-FBC1-36B3-FF13-8EE307662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9ED32-46C6-469E-9D81-E8934DBD0961}" type="slidenum">
              <a:rPr lang="zh-TW" altLang="en-US" smtClean="0"/>
              <a:t>35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15809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NCKU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NCKU3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CKU3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CKU3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CKU" id="{1E584FE3-EC3C-4BC7-B6FE-D3F2C8DC7160}" vid="{911B48B0-2E8C-4C50-97C8-C7CE263FDF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</TotalTime>
  <Words>1745</Words>
  <Application>Microsoft Office PowerPoint</Application>
  <PresentationFormat>寬螢幕</PresentationFormat>
  <Paragraphs>386</Paragraphs>
  <Slides>35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1" baseType="lpstr">
      <vt:lpstr>Angsana New</vt:lpstr>
      <vt:lpstr>Arial</vt:lpstr>
      <vt:lpstr>Calibri</vt:lpstr>
      <vt:lpstr>Cambria Math</vt:lpstr>
      <vt:lpstr>Times New Roman</vt:lpstr>
      <vt:lpstr>NCKU</vt:lpstr>
      <vt:lpstr>RISC-V Microcontroller On Cmod-A7-35T</vt:lpstr>
      <vt:lpstr>Outline</vt:lpstr>
      <vt:lpstr>PowerPoint 簡報</vt:lpstr>
      <vt:lpstr>FPGA Selection and Spec</vt:lpstr>
      <vt:lpstr>FPGA Selection and Spec</vt:lpstr>
      <vt:lpstr>FPGA Selection and Spec</vt:lpstr>
      <vt:lpstr>PowerPoint 簡報</vt:lpstr>
      <vt:lpstr>Microcontroller Overview</vt:lpstr>
      <vt:lpstr>Instruction Path vs Data Path</vt:lpstr>
      <vt:lpstr>Instruction Network / Data Network</vt:lpstr>
      <vt:lpstr>Memory-Mapped I/O vs SFR</vt:lpstr>
      <vt:lpstr>AXI Mapping</vt:lpstr>
      <vt:lpstr>Microcontroller Overview </vt:lpstr>
      <vt:lpstr>PowerPoint 簡報</vt:lpstr>
      <vt:lpstr>MDM (MicroBlaze Debug Module)</vt:lpstr>
      <vt:lpstr>GPIO</vt:lpstr>
      <vt:lpstr>Timer &amp; PWM</vt:lpstr>
      <vt:lpstr>UART</vt:lpstr>
      <vt:lpstr>XADC</vt:lpstr>
      <vt:lpstr>Interrupt System</vt:lpstr>
      <vt:lpstr>PowerPoint 簡報</vt:lpstr>
      <vt:lpstr>Memory Hierarchy</vt:lpstr>
      <vt:lpstr>PowerPoint 簡報</vt:lpstr>
      <vt:lpstr>Hardware Report</vt:lpstr>
      <vt:lpstr>PowerPoint 簡報</vt:lpstr>
      <vt:lpstr>Ripes</vt:lpstr>
      <vt:lpstr>PowerPoint 簡報</vt:lpstr>
      <vt:lpstr>Software Design Flow</vt:lpstr>
      <vt:lpstr>XSDB (Xilinx System Debugger)</vt:lpstr>
      <vt:lpstr>PowerPoint 簡報</vt:lpstr>
      <vt:lpstr>JTAG Debug Flow</vt:lpstr>
      <vt:lpstr>PowerPoint 簡報</vt:lpstr>
      <vt:lpstr>Standalone Boot Sequence</vt:lpstr>
      <vt:lpstr>Reference</vt:lpstr>
      <vt:lpstr>Issue to Address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Frame Rate Conversion</dc:title>
  <dc:creator>moksas</dc:creator>
  <cp:lastModifiedBy>黃偉峰 HUANG, WEI-FENG</cp:lastModifiedBy>
  <cp:revision>586</cp:revision>
  <cp:lastPrinted>2025-07-25T03:02:42Z</cp:lastPrinted>
  <dcterms:created xsi:type="dcterms:W3CDTF">2017-03-13T07:34:40Z</dcterms:created>
  <dcterms:modified xsi:type="dcterms:W3CDTF">2026-04-15T08:01:22Z</dcterms:modified>
</cp:coreProperties>
</file>
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353" r:id="rId2"/>
    <p:sldId id="352" r:id="rId3"/>
    <p:sldId id="355" r:id="rId4"/>
    <p:sldId id="354" r:id="rId5"/>
    <p:sldId id="292" r:id="rId6"/>
    <p:sldId id="279" r:id="rId7"/>
    <p:sldId id="356" r:id="rId8"/>
    <p:sldId id="257" r:id="rId9"/>
    <p:sldId id="305" r:id="rId10"/>
    <p:sldId id="306" r:id="rId11"/>
    <p:sldId id="293" r:id="rId12"/>
    <p:sldId id="262" r:id="rId13"/>
    <p:sldId id="357" r:id="rId14"/>
    <p:sldId id="360" r:id="rId15"/>
    <p:sldId id="271" r:id="rId16"/>
    <p:sldId id="377" r:id="rId17"/>
    <p:sldId id="378" r:id="rId18"/>
    <p:sldId id="376" r:id="rId19"/>
    <p:sldId id="362" r:id="rId20"/>
    <p:sldId id="363" r:id="rId21"/>
    <p:sldId id="302" r:id="rId22"/>
    <p:sldId id="364" r:id="rId23"/>
    <p:sldId id="263" r:id="rId24"/>
    <p:sldId id="365" r:id="rId25"/>
    <p:sldId id="272" r:id="rId26"/>
    <p:sldId id="289" r:id="rId27"/>
    <p:sldId id="366" r:id="rId28"/>
    <p:sldId id="367" r:id="rId29"/>
    <p:sldId id="368" r:id="rId30"/>
    <p:sldId id="369" r:id="rId31"/>
    <p:sldId id="370" r:id="rId32"/>
    <p:sldId id="264" r:id="rId33"/>
    <p:sldId id="374" r:id="rId34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6887"/>
    <a:srgbClr val="F3F9FA"/>
    <a:srgbClr val="27537B"/>
    <a:srgbClr val="004F88"/>
    <a:srgbClr val="00D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01" autoAdjust="0"/>
    <p:restoredTop sz="87273" autoAdjust="0"/>
  </p:normalViewPr>
  <p:slideViewPr>
    <p:cSldViewPr snapToGrid="0">
      <p:cViewPr varScale="1">
        <p:scale>
          <a:sx n="96" d="100"/>
          <a:sy n="96" d="100"/>
        </p:scale>
        <p:origin x="154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99F11-57D9-4294-A5FE-64EE127CA968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CB530-4F92-4B99-9104-CE8BD419A5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82226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27D1B-DA63-41BA-9798-D609BF505076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57F02-474E-488B-BE4D-5412E00FF6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761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B658-CDBC-8B7F-2362-E2412ADE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44542E5-481C-A9A1-AB6F-9FA11C3A0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532CA5-E993-EFF7-60E4-EBBD61832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A95409-6A89-FDBE-8C40-874003557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A0D18-15BC-E644-BBC8-0456017DDD4C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4350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57F02-474E-488B-BE4D-5412E00FF68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965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endParaRPr lang="zh-TW" alt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降壓分壓：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2.32kΩ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電阻負責將外部訊號（如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3.3V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）按比例縮小至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安全可測的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0~1V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範圍。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戴維寧等效電阻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：將電源短路接地後，分壓電阻視為並聯。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端看出去的等效阻抗為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(2.32kΩ // 1kΩ) + 140Ω ≈ 838Ω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則為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直接接地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阻抗匹配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端直接串聯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電阻接地，目的是與 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838Ω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達成極度接近的阻抗匹配。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核心目的：兩端阻抗平衡可以完美抵銷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內部直流偏置電流（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DC Bias Current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）所造成的壓降誤差，大幅提升差分測量的精準度。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"在這裡鍵入方程式。"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高輸入阻抗：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測量端阻抗極高，實際流入的電流微乎其微（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nA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等級），在外部電阻上產生的電壓降極小，幾乎不影響量測。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6.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差分相減抵銷誤差：即便有微小的偏置電流，因為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(838Ω)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(845Ω)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阻抗極度匹配，兩端產生的誤差電壓相等。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測量差分電壓（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減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）時，此誤差會被完美抵銷。</a:t>
                </a:r>
                <a:endParaRPr lang="zh-TW" altLang="en-US" dirty="0">
                  <a:effectLst/>
                </a:endParaRP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pPr indent="0" algn="r">
              <a:buNone/>
            </a:pPr>
            <a:fld id="{607342CF-35FB-406E-8734-9FDFFECECBE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407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2"/>
            <a:ext cx="12192000" cy="255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 descr="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1219200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724400"/>
            <a:ext cx="8534400" cy="16764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3454400" y="2209800"/>
            <a:ext cx="8534400" cy="19812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25400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035F27-4D28-4968-A691-9611B3ABAAE8}" type="datetime1">
              <a:rPr lang="zh-TW" altLang="en-US" smtClean="0">
                <a:solidFill>
                  <a:srgbClr val="000000"/>
                </a:solidFill>
              </a:rPr>
              <a:t>2026/4/14</a:t>
            </a:fld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400800"/>
            <a:ext cx="38608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cs typeface="Angsana New" pitchFamily="18" charset="-34"/>
              </a:defRPr>
            </a:lvl1pPr>
          </a:lstStyle>
          <a:p>
            <a:endParaRPr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86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0000" y="108000"/>
            <a:ext cx="10972800" cy="707886"/>
          </a:xfrm>
        </p:spPr>
        <p:txBody>
          <a:bodyPr>
            <a:sp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101600" y="6552000"/>
            <a:ext cx="2540000" cy="260350"/>
          </a:xfrm>
          <a:ln/>
        </p:spPr>
        <p:txBody>
          <a:bodyPr/>
          <a:lstStyle>
            <a:lvl1pPr>
              <a:defRPr/>
            </a:lvl1pPr>
          </a:lstStyle>
          <a:p>
            <a:fld id="{06BD1EBB-F0A8-4B9C-9D4E-C17A8A5A2449}" type="datetime1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xfrm>
            <a:off x="4267200" y="6552000"/>
            <a:ext cx="3860800" cy="260350"/>
          </a:xfrm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550400" y="6552000"/>
            <a:ext cx="2540000" cy="260350"/>
          </a:xfrm>
          <a:ln/>
        </p:spPr>
        <p:txBody>
          <a:bodyPr/>
          <a:lstStyle>
            <a:lvl1pPr>
              <a:defRPr/>
            </a:lvl1pPr>
          </a:lstStyle>
          <a:p>
            <a:fld id="{F9F9ED32-46C6-469E-9D81-E8934DBD096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2171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92EEED-A9B7-42BC-A1F2-60B82C4FBAE6}" type="datetime1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F9ED32-46C6-469E-9D81-E8934DBD096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95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4435" y="1482725"/>
            <a:ext cx="5706533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44168" y="1482725"/>
            <a:ext cx="5706533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B513EE-F750-4072-AF1B-A20318CC106B}" type="datetime1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550400" y="6552000"/>
            <a:ext cx="2540000" cy="260350"/>
          </a:xfrm>
          <a:ln/>
        </p:spPr>
        <p:txBody>
          <a:bodyPr/>
          <a:lstStyle>
            <a:lvl1pPr>
              <a:defRPr/>
            </a:lvl1pPr>
          </a:lstStyle>
          <a:p>
            <a:fld id="{F9F9ED32-46C6-469E-9D81-E8934DBD096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205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03FB19-3342-4E79-ADCE-9DB99AA56126}" type="datetime1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F9ED32-46C6-469E-9D81-E8934DBD096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9417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B2D14A-D3C7-490B-A8E1-96FA496324EF}" type="datetime1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F9ED32-46C6-469E-9D81-E8934DBD096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457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E911DC-77C9-4ADC-B07E-272A68DBFA14}" type="datetime1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F9ED32-46C6-469E-9D81-E8934DBD096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869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5B21CB-16DD-4E49-B691-7AAC81A3EA8C}" type="datetime1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F9ED32-46C6-469E-9D81-E8934DBD096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349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F4F6D1-4FC1-4DE7-B4BC-17972AA62A4A}" type="datetime1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F9ED32-46C6-469E-9D81-E8934DBD096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879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144876-D6B9-4FEE-BE3A-F4CD2EEB4379}" type="datetime1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F9ED32-46C6-469E-9D81-E8934DBD096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74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076268" y="3"/>
            <a:ext cx="2912533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4436" y="3"/>
            <a:ext cx="8538633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A259BF-DE45-49FA-A477-968460ED4E03}" type="datetime1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F9ED32-46C6-469E-9D81-E8934DBD096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7388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641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12192000" cy="1231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900000" y="180000"/>
            <a:ext cx="10972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5" y="1482725"/>
            <a:ext cx="11615737" cy="511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1600" y="6552000"/>
            <a:ext cx="2540000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rgbClr val="0033CC"/>
                </a:solidFill>
                <a:latin typeface="+mn-lt"/>
                <a:cs typeface="Angsana New" pitchFamily="18" charset="-34"/>
              </a:defRPr>
            </a:lvl1pPr>
          </a:lstStyle>
          <a:p>
            <a:fld id="{6B6E154F-CDA9-41F4-98F3-1230ED3328AC}" type="datetime1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267200" y="6552000"/>
            <a:ext cx="3860800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solidFill>
                  <a:srgbClr val="0033CC"/>
                </a:solidFill>
                <a:latin typeface="+mn-lt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50400" y="6552000"/>
            <a:ext cx="2540000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 smtClean="0">
                <a:solidFill>
                  <a:srgbClr val="0033CC"/>
                </a:solidFill>
                <a:latin typeface="Calibri" panose="020F0502020204030204" pitchFamily="34" charset="0"/>
                <a:cs typeface="Angsana New" panose="02020603050405020304" pitchFamily="18" charset="-34"/>
              </a:defRPr>
            </a:lvl1pPr>
          </a:lstStyle>
          <a:p>
            <a:fld id="{F9F9ED32-46C6-469E-9D81-E8934DBD096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7819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Calibri" pitchFamily="34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Calibri" pitchFamily="34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Calibri" pitchFamily="34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Calibri" pitchFamily="34" charset="0"/>
          <a:ea typeface="新細明體" pitchFamily="18" charset="-12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4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1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12.png"/><Relationship Id="rId9" Type="http://schemas.openxmlformats.org/officeDocument/2006/relationships/image" Target="../media/image1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hyperlink" Target="https://github.com/riscv-collab/riscv-gnu-toolcha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kp66482/RISC-V-MCU-on-Cmod-A7/blob/main/Vitis-Software-Dev-Guide/JTAG-Debug-Mode/JTAG-Debug-Mode.md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A144D-B581-8420-66DA-5A03CCF8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8CEC9A-57AC-4034-5ACF-8628734A3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8850" y="2724139"/>
            <a:ext cx="8534400" cy="1057275"/>
          </a:xfrm>
        </p:spPr>
        <p:txBody>
          <a:bodyPr anchor="t">
            <a:noAutofit/>
          </a:bodyPr>
          <a:lstStyle/>
          <a:p>
            <a:pPr>
              <a:spcBef>
                <a:spcPts val="641"/>
              </a:spcBef>
              <a:tabLst>
                <a:tab pos="0" algn="l"/>
              </a:tabLst>
            </a:pPr>
            <a:r>
              <a:rPr lang="en-US" sz="4000" spc="-1" dirty="0">
                <a:solidFill>
                  <a:schemeClr val="lt1"/>
                </a:solidFill>
                <a:ea typeface="Times New Roman"/>
              </a:rPr>
              <a:t>RISC-V Microcontroller</a:t>
            </a:r>
            <a:br>
              <a:rPr lang="en-US" sz="4000" b="0" spc="-1" dirty="0">
                <a:solidFill>
                  <a:srgbClr val="000000"/>
                </a:solidFill>
              </a:rPr>
            </a:br>
            <a:r>
              <a:rPr lang="en-US" sz="4000" spc="-1" dirty="0">
                <a:solidFill>
                  <a:schemeClr val="lt1"/>
                </a:solidFill>
                <a:ea typeface="Times New Roman"/>
              </a:rPr>
              <a:t>On Cmod-A7-35T</a:t>
            </a:r>
            <a:endParaRPr lang="en-US" sz="4000" b="0" spc="-1" dirty="0">
              <a:solidFill>
                <a:srgbClr val="000000"/>
              </a:solidFill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5767B12C-1476-B53D-5FD1-8B8FAC5C9D42}"/>
              </a:ext>
            </a:extLst>
          </p:cNvPr>
          <p:cNvSpPr txBox="1">
            <a:spLocks/>
          </p:cNvSpPr>
          <p:nvPr/>
        </p:nvSpPr>
        <p:spPr bwMode="auto">
          <a:xfrm>
            <a:off x="3498850" y="3686176"/>
            <a:ext cx="8534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DDDDDD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DDDDDD"/>
                </a:solidFill>
                <a:latin typeface="Calibri" pitchFamily="34" charset="0"/>
                <a:ea typeface="新細明體" pitchFamily="18" charset="-12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DDDDDD"/>
                </a:solidFill>
                <a:latin typeface="Calibri" pitchFamily="34" charset="0"/>
                <a:ea typeface="新細明體" pitchFamily="18" charset="-12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DDDDDD"/>
                </a:solidFill>
                <a:latin typeface="Calibri" pitchFamily="34" charset="0"/>
                <a:ea typeface="新細明體" pitchFamily="18" charset="-12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DDDDDD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DDDDDD"/>
                </a:solidFill>
                <a:latin typeface="Times New Roman" pitchFamily="18" charset="0"/>
                <a:ea typeface="新細明體" pitchFamily="18" charset="-12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DDDDDD"/>
                </a:solidFill>
                <a:latin typeface="Times New Roman" pitchFamily="18" charset="0"/>
                <a:ea typeface="新細明體" pitchFamily="18" charset="-12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DDDDDD"/>
                </a:solidFill>
                <a:latin typeface="Times New Roman" pitchFamily="18" charset="0"/>
                <a:ea typeface="新細明體" pitchFamily="18" charset="-12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DDDDDD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endParaRPr lang="en-US" altLang="zh-TW" sz="2200" b="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id="{85F58FE3-C6FC-7DFE-DB47-D1B924DF63E3}"/>
              </a:ext>
            </a:extLst>
          </p:cNvPr>
          <p:cNvSpPr/>
          <p:nvPr/>
        </p:nvSpPr>
        <p:spPr>
          <a:xfrm>
            <a:off x="7886880" y="6263640"/>
            <a:ext cx="412164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Arial"/>
                <a:cs typeface="+mn-cs"/>
              </a:rPr>
              <a:t>Developed by </a:t>
            </a:r>
            <a:r>
              <a:rPr kumimoji="0" lang="en-US" sz="14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Arial"/>
                <a:cs typeface="+mn-cs"/>
              </a:rPr>
              <a:t>Wei-Feng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Arial"/>
                <a:cs typeface="+mn-cs"/>
              </a:rPr>
              <a:t> </a:t>
            </a:r>
            <a:r>
              <a:rPr kumimoji="0" lang="en-US" sz="1400" b="0" i="0" u="none" strike="noStrike" kern="120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Arial"/>
                <a:cs typeface="+mn-cs"/>
              </a:rPr>
              <a:t>Huang,</a:t>
            </a:r>
            <a:r>
              <a:rPr kumimoji="0" lang="en-US" sz="14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Arial"/>
                <a:cs typeface="+mn-cs"/>
              </a:rPr>
              <a:t> DICLAB, NCKU</a:t>
            </a:r>
            <a:endParaRPr kumimoji="0" lang="en-US" sz="14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70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80E7-411B-5B87-EFAC-03C9325D8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43D012-99B4-A6AC-0CD2-999158835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0A0642-98CF-9CEF-6C6D-052CB538B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Overview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26C914-5B87-BB1E-25CB-FED0FD0F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50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0241-1956-99C1-A0A1-DD0731EA4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D5E8C2-DE78-D88F-3060-F15FF2D3C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Overview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E45176-CC95-1BCF-EA4B-F652AF89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5396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25D89C-D18F-11F0-D562-EF360E4B8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65" y="45649"/>
            <a:ext cx="10972800" cy="1017837"/>
          </a:xfrm>
        </p:spPr>
        <p:txBody>
          <a:bodyPr/>
          <a:lstStyle/>
          <a:p>
            <a:r>
              <a:rPr lang="en-US" altLang="zh-TW" dirty="0"/>
              <a:t>FPGA</a:t>
            </a:r>
            <a:r>
              <a:rPr lang="zh-TW" altLang="en-US" dirty="0"/>
              <a:t> </a:t>
            </a:r>
            <a:r>
              <a:rPr lang="en-US" altLang="zh-TW" dirty="0"/>
              <a:t>Selection and Spec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E1BACC-1A92-621E-0001-4CF881F5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8BEA351-5DE7-A223-EC06-CF5509F465A1}"/>
              </a:ext>
            </a:extLst>
          </p:cNvPr>
          <p:cNvSpPr txBox="1">
            <a:spLocks/>
          </p:cNvSpPr>
          <p:nvPr/>
        </p:nvSpPr>
        <p:spPr bwMode="auto">
          <a:xfrm>
            <a:off x="474663" y="1636662"/>
            <a:ext cx="11615737" cy="511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Board: Cmod-A7-35T</a:t>
            </a:r>
          </a:p>
          <a:p>
            <a:pPr>
              <a:spcBef>
                <a:spcPts val="1200"/>
              </a:spcBef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Chip: xc7a35tcpg236-1</a:t>
            </a:r>
          </a:p>
          <a:p>
            <a:pPr>
              <a:spcBef>
                <a:spcPts val="1200"/>
              </a:spcBef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Breadboard-friendly </a:t>
            </a:r>
            <a:r>
              <a:rPr 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48-pin DIP 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</a:t>
            </a:r>
          </a:p>
          <a:p>
            <a:pPr>
              <a:spcBef>
                <a:spcPts val="1200"/>
              </a:spcBef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48 DIP pins at </a:t>
            </a:r>
            <a:r>
              <a:rPr 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LVCMOS33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(3.3 V logic level)</a:t>
            </a:r>
          </a:p>
          <a:p>
            <a:pPr>
              <a:spcBef>
                <a:spcPts val="1200"/>
              </a:spcBef>
            </a:pPr>
            <a:r>
              <a:rPr 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series resistors 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direct connection to FPGA I/O</a:t>
            </a:r>
          </a:p>
          <a:p>
            <a:pPr>
              <a:spcBef>
                <a:spcPts val="1200"/>
              </a:spcBef>
            </a:pPr>
            <a:r>
              <a:rPr 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pins: 0–3.3 V input</a:t>
            </a: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scaled to 0–1 V via on-board voltage divider</a:t>
            </a:r>
          </a:p>
          <a:p>
            <a:pPr>
              <a:spcBef>
                <a:spcPts val="1200"/>
              </a:spcBef>
            </a:pPr>
            <a:r>
              <a:rPr 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TWD: 3,092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95F13693-747A-63FD-0B0C-62E1495AB0B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7"/>
          <a:stretch/>
        </p:blipFill>
        <p:spPr>
          <a:xfrm>
            <a:off x="7833663" y="1636662"/>
            <a:ext cx="3883674" cy="2849547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776565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9094A-2CDA-3BAD-221E-0D93852A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08C323D2-E779-1830-948D-525DDD94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36" y="-9939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TW" dirty="0"/>
              <a:t>FPGA</a:t>
            </a:r>
            <a:r>
              <a:rPr lang="zh-TW" altLang="en-US" dirty="0"/>
              <a:t> </a:t>
            </a:r>
            <a:r>
              <a:rPr lang="en-US" altLang="zh-TW" dirty="0"/>
              <a:t>Selection and Spec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6" name="Picture 2" descr="Cmod A7-35T: Breadboardable Artix-7 FPGA Module - Digilent">
            <a:extLst>
              <a:ext uri="{FF2B5EF4-FFF2-40B4-BE49-F238E27FC236}">
                <a16:creationId xmlns:a16="http://schemas.microsoft.com/office/drawing/2014/main" id="{7FBF4CE4-8449-4DC3-DBC3-3300BB91DF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" t="36009" r="4500" b="40627"/>
          <a:stretch>
            <a:fillRect/>
          </a:stretch>
        </p:blipFill>
        <p:spPr bwMode="auto">
          <a:xfrm>
            <a:off x="2905245" y="2986268"/>
            <a:ext cx="5833641" cy="1469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線單箭頭接點 26">
            <a:extLst>
              <a:ext uri="{FF2B5EF4-FFF2-40B4-BE49-F238E27FC236}">
                <a16:creationId xmlns:a16="http://schemas.microsoft.com/office/drawing/2014/main" id="{05E835DE-AA31-2675-B857-D642D1687F46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6850966" y="2525939"/>
            <a:ext cx="0" cy="79865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A4794-1E58-3542-B788-9E4693FADF4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5</a:t>
            </a:fld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EC067-3C0D-31FD-78ED-311F29DAD063}"/>
              </a:ext>
            </a:extLst>
          </p:cNvPr>
          <p:cNvSpPr txBox="1"/>
          <p:nvPr/>
        </p:nvSpPr>
        <p:spPr>
          <a:xfrm>
            <a:off x="4293214" y="1602609"/>
            <a:ext cx="51155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 Flash 4MB:</a:t>
            </a:r>
          </a:p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Micron-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N25Q0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(32Mbit / 4MB) 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Macronix-MX25L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33FZBI-08G/Q (32Mbit / 4MB)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26">
            <a:extLst>
              <a:ext uri="{FF2B5EF4-FFF2-40B4-BE49-F238E27FC236}">
                <a16:creationId xmlns:a16="http://schemas.microsoft.com/office/drawing/2014/main" id="{5FA1B039-8FAE-3142-32BF-1A64863FAA8E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360476" y="4135902"/>
            <a:ext cx="413575" cy="70951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9BB4CE-57DA-38E0-162C-2CB0E54A809F}"/>
              </a:ext>
            </a:extLst>
          </p:cNvPr>
          <p:cNvSpPr txBox="1"/>
          <p:nvPr/>
        </p:nvSpPr>
        <p:spPr>
          <a:xfrm>
            <a:off x="5043449" y="4845415"/>
            <a:ext cx="34612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SRAM 512KB: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IS61WV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BLL-10BLI (512KB)</a:t>
            </a:r>
          </a:p>
          <a:p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DE31D4-5D94-B58F-CABD-234A7B6B417C}"/>
              </a:ext>
            </a:extLst>
          </p:cNvPr>
          <p:cNvSpPr txBox="1"/>
          <p:nvPr/>
        </p:nvSpPr>
        <p:spPr>
          <a:xfrm>
            <a:off x="2409395" y="4845414"/>
            <a:ext cx="2279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XC7A35T-1CPG236C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26">
            <a:extLst>
              <a:ext uri="{FF2B5EF4-FFF2-40B4-BE49-F238E27FC236}">
                <a16:creationId xmlns:a16="http://schemas.microsoft.com/office/drawing/2014/main" id="{EE4C2AE2-F407-15DF-E358-73A7EEEC8D08}"/>
              </a:ext>
            </a:extLst>
          </p:cNvPr>
          <p:cNvCxnSpPr>
            <a:cxnSpLocks/>
          </p:cNvCxnSpPr>
          <p:nvPr/>
        </p:nvCxnSpPr>
        <p:spPr>
          <a:xfrm flipH="1">
            <a:off x="3549130" y="4135902"/>
            <a:ext cx="1880999" cy="73836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40267D0-2644-50AC-9EC4-2F09EA2B478B}"/>
              </a:ext>
            </a:extLst>
          </p:cNvPr>
          <p:cNvSpPr txBox="1"/>
          <p:nvPr/>
        </p:nvSpPr>
        <p:spPr>
          <a:xfrm>
            <a:off x="9408717" y="3500668"/>
            <a:ext cx="227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PMOD</a:t>
            </a:r>
          </a:p>
        </p:txBody>
      </p:sp>
      <p:cxnSp>
        <p:nvCxnSpPr>
          <p:cNvPr id="23" name="直線單箭頭接點 26">
            <a:extLst>
              <a:ext uri="{FF2B5EF4-FFF2-40B4-BE49-F238E27FC236}">
                <a16:creationId xmlns:a16="http://schemas.microsoft.com/office/drawing/2014/main" id="{68CAC0B4-6BAE-4A2D-77FA-BD5F054F5F00}"/>
              </a:ext>
            </a:extLst>
          </p:cNvPr>
          <p:cNvCxnSpPr>
            <a:cxnSpLocks/>
          </p:cNvCxnSpPr>
          <p:nvPr/>
        </p:nvCxnSpPr>
        <p:spPr>
          <a:xfrm>
            <a:off x="8688654" y="3685334"/>
            <a:ext cx="692258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0CC39FA6-9ED6-6FB8-29A6-51A5BE061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887" y="4007238"/>
            <a:ext cx="3350994" cy="92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B5AEA9-6EE8-4A27-7DC2-37857B0F0D71}"/>
              </a:ext>
            </a:extLst>
          </p:cNvPr>
          <p:cNvSpPr txBox="1"/>
          <p:nvPr/>
        </p:nvSpPr>
        <p:spPr>
          <a:xfrm>
            <a:off x="1643548" y="1921920"/>
            <a:ext cx="1819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/ JTAG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FTDI FT2232HQ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26">
            <a:extLst>
              <a:ext uri="{FF2B5EF4-FFF2-40B4-BE49-F238E27FC236}">
                <a16:creationId xmlns:a16="http://schemas.microsoft.com/office/drawing/2014/main" id="{6BA4315B-4526-A3B9-9A79-20728B205739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2553413" y="2568251"/>
            <a:ext cx="1238672" cy="79823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71E152-3784-EDDB-D80E-1FC42E4F5DE8}"/>
              </a:ext>
            </a:extLst>
          </p:cNvPr>
          <p:cNvSpPr txBox="1"/>
          <p:nvPr/>
        </p:nvSpPr>
        <p:spPr>
          <a:xfrm>
            <a:off x="658268" y="3536594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Micro-USB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26">
            <a:extLst>
              <a:ext uri="{FF2B5EF4-FFF2-40B4-BE49-F238E27FC236}">
                <a16:creationId xmlns:a16="http://schemas.microsoft.com/office/drawing/2014/main" id="{664191F4-D419-E271-9AE1-99A3BB57F15E}"/>
              </a:ext>
            </a:extLst>
          </p:cNvPr>
          <p:cNvCxnSpPr>
            <a:cxnSpLocks/>
            <a:stCxn id="1026" idx="1"/>
            <a:endCxn id="7" idx="3"/>
          </p:cNvCxnSpPr>
          <p:nvPr/>
        </p:nvCxnSpPr>
        <p:spPr>
          <a:xfrm flipH="1" flipV="1">
            <a:off x="1932976" y="3721260"/>
            <a:ext cx="972269" cy="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99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72C25B-91F2-8B92-1473-A19912CD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FPGA</a:t>
            </a:r>
            <a:r>
              <a:rPr lang="zh-TW" altLang="en-US" dirty="0"/>
              <a:t> </a:t>
            </a:r>
            <a:r>
              <a:rPr lang="en-US" altLang="zh-TW" dirty="0"/>
              <a:t>Selection and Spec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0F2788-E8B9-10F1-4D43-670B61ADD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544" y="2096655"/>
            <a:ext cx="1713864" cy="476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0F3199-EF38-CEDC-1870-EBA18CBB6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740" y="3182918"/>
            <a:ext cx="5583382" cy="297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6D96022-A0CB-59F9-747D-89E2BE0CFE0D}"/>
              </a:ext>
            </a:extLst>
          </p:cNvPr>
          <p:cNvSpPr/>
          <p:nvPr/>
        </p:nvSpPr>
        <p:spPr>
          <a:xfrm>
            <a:off x="5698837" y="3182918"/>
            <a:ext cx="951345" cy="797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A6BA85A5-D995-1C8C-B319-13603D51DE64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6650182" y="3581897"/>
            <a:ext cx="2025362" cy="1535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F7DC024-A10A-79FE-32CB-3318C34A6662}"/>
              </a:ext>
            </a:extLst>
          </p:cNvPr>
          <p:cNvSpPr txBox="1"/>
          <p:nvPr/>
        </p:nvSpPr>
        <p:spPr>
          <a:xfrm>
            <a:off x="5637402" y="320480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DAE217-E7B8-68FF-438E-C041810D0F39}"/>
                  </a:ext>
                </a:extLst>
              </p:cNvPr>
              <p:cNvSpPr txBox="1"/>
              <p:nvPr/>
            </p:nvSpPr>
            <p:spPr>
              <a:xfrm>
                <a:off x="1117896" y="1496840"/>
                <a:ext cx="6270947" cy="571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2.32 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×0.301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DAE217-E7B8-68FF-438E-C041810D0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1496840"/>
                <a:ext cx="6270947" cy="5712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63B58FB-17A7-4663-F80B-416436348B30}"/>
                  </a:ext>
                </a:extLst>
              </p:cNvPr>
              <p:cNvSpPr txBox="1"/>
              <p:nvPr/>
            </p:nvSpPr>
            <p:spPr>
              <a:xfrm>
                <a:off x="1117896" y="2194545"/>
                <a:ext cx="29760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=3.3×0.301=0.994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63B58FB-17A7-4663-F80B-416436348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2194545"/>
                <a:ext cx="2976071" cy="276999"/>
              </a:xfrm>
              <a:prstGeom prst="rect">
                <a:avLst/>
              </a:prstGeom>
              <a:blipFill>
                <a:blip r:embed="rId6"/>
                <a:stretch>
                  <a:fillRect l="-1227" r="-10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006CC74-0C61-F9B0-99F6-6FE18DF2B808}"/>
                  </a:ext>
                </a:extLst>
              </p:cNvPr>
              <p:cNvSpPr txBox="1"/>
              <p:nvPr/>
            </p:nvSpPr>
            <p:spPr>
              <a:xfrm>
                <a:off x="5171762" y="3152001"/>
                <a:ext cx="4803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𝐴𝐼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006CC74-0C61-F9B0-99F6-6FE18DF2B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762" y="3152001"/>
                <a:ext cx="480388" cy="276999"/>
              </a:xfrm>
              <a:prstGeom prst="rect">
                <a:avLst/>
              </a:prstGeom>
              <a:blipFill>
                <a:blip r:embed="rId7"/>
                <a:stretch>
                  <a:fillRect l="-8861" r="-379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BA61EE-48E1-70F8-E9BD-159CA976D98A}"/>
                  </a:ext>
                </a:extLst>
              </p:cNvPr>
              <p:cNvSpPr txBox="1"/>
              <p:nvPr/>
            </p:nvSpPr>
            <p:spPr>
              <a:xfrm>
                <a:off x="4711760" y="4287333"/>
                <a:ext cx="4854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BA61EE-48E1-70F8-E9BD-159CA976D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760" y="4287333"/>
                <a:ext cx="485454" cy="276999"/>
              </a:xfrm>
              <a:prstGeom prst="rect">
                <a:avLst/>
              </a:prstGeom>
              <a:blipFill>
                <a:blip r:embed="rId8"/>
                <a:stretch>
                  <a:fillRect l="-11250" r="-125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881BEA-99B1-5C3A-42D8-613115AAE2FC}"/>
                  </a:ext>
                </a:extLst>
              </p:cNvPr>
              <p:cNvSpPr txBox="1"/>
              <p:nvPr/>
            </p:nvSpPr>
            <p:spPr>
              <a:xfrm>
                <a:off x="1117896" y="2721044"/>
                <a:ext cx="5047151" cy="28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𝑚𝑒𝑎𝑠𝑢𝑟𝑒𝑑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𝐴𝐷𝑥</m:t>
                          </m:r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𝐴𝐷𝑥</m:t>
                          </m:r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−0=0.994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881BEA-99B1-5C3A-42D8-613115AAE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2721044"/>
                <a:ext cx="5047151" cy="286297"/>
              </a:xfrm>
              <a:prstGeom prst="rect">
                <a:avLst/>
              </a:prstGeom>
              <a:blipFill>
                <a:blip r:embed="rId9"/>
                <a:stretch>
                  <a:fillRect l="-483" r="-604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橢圓 14">
            <a:extLst>
              <a:ext uri="{FF2B5EF4-FFF2-40B4-BE49-F238E27FC236}">
                <a16:creationId xmlns:a16="http://schemas.microsoft.com/office/drawing/2014/main" id="{D33EDBAE-F10B-60BF-1CFC-9F3670FA4EE1}"/>
              </a:ext>
            </a:extLst>
          </p:cNvPr>
          <p:cNvSpPr/>
          <p:nvPr/>
        </p:nvSpPr>
        <p:spPr>
          <a:xfrm>
            <a:off x="4577536" y="4414409"/>
            <a:ext cx="134224" cy="1258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6A72F4-4140-8F9C-947D-82D9E8D887BA}"/>
              </a:ext>
            </a:extLst>
          </p:cNvPr>
          <p:cNvSpPr/>
          <p:nvPr/>
        </p:nvSpPr>
        <p:spPr>
          <a:xfrm>
            <a:off x="2650494" y="4197673"/>
            <a:ext cx="800372" cy="1238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84986B5-5250-7B0B-12E9-1BA70559826F}"/>
              </a:ext>
            </a:extLst>
          </p:cNvPr>
          <p:cNvSpPr txBox="1"/>
          <p:nvPr/>
        </p:nvSpPr>
        <p:spPr>
          <a:xfrm>
            <a:off x="2176081" y="3752840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Capacitor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BCC309-A6C3-9EB9-6B7A-A14AF2B359F8}"/>
              </a:ext>
            </a:extLst>
          </p:cNvPr>
          <p:cNvSpPr txBox="1"/>
          <p:nvPr/>
        </p:nvSpPr>
        <p:spPr>
          <a:xfrm>
            <a:off x="7852527" y="2148378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 pin: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0032C2-473D-1C1F-1EDF-C1871191490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84024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ED2B6-DE25-CF1D-0DB3-4E84E91F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F55237-E903-65BF-6DD9-7D168A58A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Overview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2E5A49-D28C-36AD-0FFF-591A71AB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35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latin typeface="+mn-lt"/>
                <a:cs typeface="Times New Roman" panose="02020603050405020304" pitchFamily="18" charset="0"/>
              </a:rPr>
              <a:t>Microcontroller Overview</a:t>
            </a:r>
            <a:endParaRPr lang="en-US" dirty="0">
              <a:solidFill>
                <a:schemeClr val="bg2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70" name="矩形: 圓角 3"/>
          <p:cNvSpPr/>
          <p:nvPr/>
        </p:nvSpPr>
        <p:spPr>
          <a:xfrm>
            <a:off x="3159724" y="276776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ea typeface="Arial"/>
              </a:rPr>
              <a:t>MicroBlaze V</a:t>
            </a:r>
            <a:endParaRPr lang="en-US" sz="1400" b="0" strike="noStrike" spc="-1">
              <a:solidFill>
                <a:srgbClr val="000000"/>
              </a:solidFill>
            </a:endParaRPr>
          </a:p>
        </p:txBody>
      </p:sp>
      <p:sp>
        <p:nvSpPr>
          <p:cNvPr id="71" name="矩形: 圓角 4"/>
          <p:cNvSpPr/>
          <p:nvPr/>
        </p:nvSpPr>
        <p:spPr>
          <a:xfrm>
            <a:off x="1533604" y="2767761"/>
            <a:ext cx="106380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ea typeface="Arial"/>
              </a:rPr>
              <a:t>Debug</a:t>
            </a:r>
            <a:endParaRPr lang="en-US" sz="1400" b="0" strike="noStrike" spc="-1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ea typeface="Arial"/>
              </a:rPr>
              <a:t>Module</a:t>
            </a:r>
            <a:endParaRPr lang="en-US" sz="1400" b="0" strike="noStrike" spc="-1">
              <a:solidFill>
                <a:srgbClr val="000000"/>
              </a:solidFill>
            </a:endParaRPr>
          </a:p>
        </p:txBody>
      </p:sp>
      <p:sp>
        <p:nvSpPr>
          <p:cNvPr id="72" name="矩形: 圓角 6"/>
          <p:cNvSpPr/>
          <p:nvPr/>
        </p:nvSpPr>
        <p:spPr>
          <a:xfrm>
            <a:off x="8026645" y="2687395"/>
            <a:ext cx="3492360" cy="81180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GPIO * 7 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73" name="矩形: 圓角 7"/>
          <p:cNvSpPr/>
          <p:nvPr/>
        </p:nvSpPr>
        <p:spPr>
          <a:xfrm>
            <a:off x="3640852" y="5066309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</a:endParaRPr>
          </a:p>
        </p:txBody>
      </p:sp>
      <p:sp>
        <p:nvSpPr>
          <p:cNvPr id="76" name="矩形 12"/>
          <p:cNvSpPr/>
          <p:nvPr/>
        </p:nvSpPr>
        <p:spPr>
          <a:xfrm>
            <a:off x="197290" y="4187601"/>
            <a:ext cx="11476434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</a:endParaRPr>
          </a:p>
        </p:txBody>
      </p:sp>
      <p:cxnSp>
        <p:nvCxnSpPr>
          <p:cNvPr id="77" name="直線單箭頭接點 14"/>
          <p:cNvCxnSpPr>
            <a:cxnSpLocks/>
          </p:cNvCxnSpPr>
          <p:nvPr/>
        </p:nvCxnSpPr>
        <p:spPr>
          <a:xfrm flipV="1">
            <a:off x="8282285" y="2405137"/>
            <a:ext cx="0" cy="285835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78" name="直線單箭頭接點 15"/>
          <p:cNvCxnSpPr>
            <a:cxnSpLocks/>
          </p:cNvCxnSpPr>
          <p:nvPr/>
        </p:nvCxnSpPr>
        <p:spPr>
          <a:xfrm flipV="1">
            <a:off x="9763516" y="2405137"/>
            <a:ext cx="0" cy="282258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83" name="文字方塊 22"/>
          <p:cNvSpPr/>
          <p:nvPr/>
        </p:nvSpPr>
        <p:spPr>
          <a:xfrm>
            <a:off x="7589977" y="1502815"/>
            <a:ext cx="137304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ea typeface="Arial"/>
              </a:rPr>
              <a:t>On-Board </a:t>
            </a:r>
            <a:endParaRPr lang="en-US" sz="1400" b="0" strike="noStrike" spc="-1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ea typeface="Arial"/>
              </a:rPr>
              <a:t>LED / </a:t>
            </a:r>
            <a:endParaRPr lang="en-US" sz="1400" b="0" strike="noStrike" spc="-1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ea typeface="Arial"/>
              </a:rPr>
              <a:t>RGB LED / </a:t>
            </a:r>
            <a:endParaRPr lang="en-US" sz="1400" b="0" strike="noStrike" spc="-1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ea typeface="Arial"/>
              </a:rPr>
              <a:t>Button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84" name="矩形: 圓角 23"/>
          <p:cNvSpPr/>
          <p:nvPr/>
        </p:nvSpPr>
        <p:spPr>
          <a:xfrm>
            <a:off x="928804" y="504491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</a:rPr>
              <a:t>16550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86" name="文字方塊 27"/>
          <p:cNvSpPr/>
          <p:nvPr/>
        </p:nvSpPr>
        <p:spPr>
          <a:xfrm>
            <a:off x="238324" y="3023721"/>
            <a:ext cx="6472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ea typeface="Arial"/>
              </a:rPr>
              <a:t>JTAG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89" name="矩形: 圓角 40"/>
          <p:cNvSpPr/>
          <p:nvPr/>
        </p:nvSpPr>
        <p:spPr>
          <a:xfrm>
            <a:off x="3159724" y="162224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ea typeface="Arial"/>
              </a:rPr>
              <a:t>Local Memory</a:t>
            </a:r>
            <a:endParaRPr lang="en-US" sz="1400" b="0" strike="noStrike" spc="-1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ea typeface="Arial"/>
              </a:rPr>
              <a:t>Bus</a:t>
            </a:r>
            <a:endParaRPr lang="en-US" sz="1400" b="0" strike="noStrike" spc="-1">
              <a:solidFill>
                <a:srgbClr val="000000"/>
              </a:solidFill>
            </a:endParaRPr>
          </a:p>
        </p:txBody>
      </p:sp>
      <p:cxnSp>
        <p:nvCxnSpPr>
          <p:cNvPr id="90" name="直線單箭頭接點 43"/>
          <p:cNvCxnSpPr>
            <a:stCxn id="89" idx="2"/>
            <a:endCxn id="70" idx="0"/>
          </p:cNvCxnSpPr>
          <p:nvPr/>
        </p:nvCxnSpPr>
        <p:spPr>
          <a:xfrm>
            <a:off x="3918964" y="2437281"/>
            <a:ext cx="360" cy="3308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1" name="矩形: 圓角 44"/>
          <p:cNvSpPr/>
          <p:nvPr/>
        </p:nvSpPr>
        <p:spPr>
          <a:xfrm>
            <a:off x="1318684" y="162332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Data Mem /</a:t>
            </a:r>
            <a:endParaRPr lang="en-US" sz="1400" spc="-1" dirty="0">
              <a:solidFill>
                <a:schemeClr val="dk1"/>
              </a:solidFill>
              <a:ea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</a:rPr>
              <a:t>Inst Mem /</a:t>
            </a:r>
            <a:endParaRPr lang="en-US" sz="1400" b="0" strike="noStrike" spc="-1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Shared 128KB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cxnSp>
        <p:nvCxnSpPr>
          <p:cNvPr id="94" name="直線單箭頭接點 51"/>
          <p:cNvCxnSpPr>
            <a:stCxn id="91" idx="3"/>
            <a:endCxn id="89" idx="1"/>
          </p:cNvCxnSpPr>
          <p:nvPr/>
        </p:nvCxnSpPr>
        <p:spPr>
          <a:xfrm flipV="1">
            <a:off x="2837524" y="2029761"/>
            <a:ext cx="322560" cy="14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2" name="文字方塊 22">
            <a:extLst>
              <a:ext uri="{FF2B5EF4-FFF2-40B4-BE49-F238E27FC236}">
                <a16:creationId xmlns:a16="http://schemas.microsoft.com/office/drawing/2014/main" id="{8EED83EF-6786-DE62-0C19-C4A9B1A310D8}"/>
              </a:ext>
            </a:extLst>
          </p:cNvPr>
          <p:cNvSpPr/>
          <p:nvPr/>
        </p:nvSpPr>
        <p:spPr>
          <a:xfrm>
            <a:off x="8598015" y="1502467"/>
            <a:ext cx="2331002" cy="11680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</a:rPr>
              <a:t>GPIO</a:t>
            </a:r>
            <a:r>
              <a:rPr lang="zh-TW" altLang="en-US" sz="1400" b="0" strike="noStrike" spc="-1" dirty="0">
                <a:solidFill>
                  <a:srgbClr val="000000"/>
                </a:solidFill>
              </a:rPr>
              <a:t> </a:t>
            </a:r>
            <a:r>
              <a:rPr lang="en-US" altLang="zh-TW" sz="1400" b="0" strike="noStrike" spc="-1" dirty="0">
                <a:solidFill>
                  <a:srgbClr val="000000"/>
                </a:solidFill>
              </a:rPr>
              <a:t>pin*28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</a:rPr>
              <a:t>GPIO_A0 ~ GPIO_A6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</a:rPr>
              <a:t>GPIO_D0 ~ GPIO_D6</a:t>
            </a:r>
            <a:endParaRPr lang="en-US" altLang="zh-TW" sz="1400" b="0" strike="noStrike" spc="-1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cxnSp>
        <p:nvCxnSpPr>
          <p:cNvPr id="3" name="直線單箭頭接點 15">
            <a:extLst>
              <a:ext uri="{FF2B5EF4-FFF2-40B4-BE49-F238E27FC236}">
                <a16:creationId xmlns:a16="http://schemas.microsoft.com/office/drawing/2014/main" id="{1F863F21-A549-5CC8-C6E3-B8EEF562750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407998" y="2455120"/>
            <a:ext cx="0" cy="23180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4" name="文字方塊 22">
            <a:extLst>
              <a:ext uri="{FF2B5EF4-FFF2-40B4-BE49-F238E27FC236}">
                <a16:creationId xmlns:a16="http://schemas.microsoft.com/office/drawing/2014/main" id="{2DCA4971-A687-BDBC-714D-41F50C1A1FFE}"/>
              </a:ext>
            </a:extLst>
          </p:cNvPr>
          <p:cNvSpPr/>
          <p:nvPr/>
        </p:nvSpPr>
        <p:spPr>
          <a:xfrm>
            <a:off x="10721478" y="1502467"/>
            <a:ext cx="137304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</a:rPr>
              <a:t>Interrupt pin*4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</a:rPr>
              <a:t>INTR_0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</a:rPr>
              <a:t>INTR_3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5" name="矩形: 圓角 23">
            <a:extLst>
              <a:ext uri="{FF2B5EF4-FFF2-40B4-BE49-F238E27FC236}">
                <a16:creationId xmlns:a16="http://schemas.microsoft.com/office/drawing/2014/main" id="{93CC8D8F-68C5-1A36-8589-386F1907AD55}"/>
              </a:ext>
            </a:extLst>
          </p:cNvPr>
          <p:cNvSpPr/>
          <p:nvPr/>
        </p:nvSpPr>
        <p:spPr>
          <a:xfrm>
            <a:off x="1117646" y="513835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12" name="文字方塊 22">
            <a:extLst>
              <a:ext uri="{FF2B5EF4-FFF2-40B4-BE49-F238E27FC236}">
                <a16:creationId xmlns:a16="http://schemas.microsoft.com/office/drawing/2014/main" id="{2537A16C-E944-9B15-E5C2-A2C914754857}"/>
              </a:ext>
            </a:extLst>
          </p:cNvPr>
          <p:cNvSpPr/>
          <p:nvPr/>
        </p:nvSpPr>
        <p:spPr>
          <a:xfrm>
            <a:off x="-261710" y="652218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spc="-1" dirty="0">
                <a:solidFill>
                  <a:srgbClr val="000000"/>
                </a:solidFill>
              </a:rPr>
              <a:t>USB-UART </a:t>
            </a:r>
            <a:r>
              <a:rPr lang="en-US" sz="1400" b="0" strike="noStrike" spc="-1" dirty="0">
                <a:solidFill>
                  <a:srgbClr val="000000"/>
                </a:solidFill>
              </a:rPr>
              <a:t>/ UART_R</a:t>
            </a:r>
            <a:r>
              <a:rPr lang="en-US" sz="1400" spc="-1" dirty="0">
                <a:solidFill>
                  <a:srgbClr val="000000"/>
                </a:solidFill>
              </a:rPr>
              <a:t>X / UART_TX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cxnSp>
        <p:nvCxnSpPr>
          <p:cNvPr id="13" name="直線單箭頭接點 14">
            <a:extLst>
              <a:ext uri="{FF2B5EF4-FFF2-40B4-BE49-F238E27FC236}">
                <a16:creationId xmlns:a16="http://schemas.microsoft.com/office/drawing/2014/main" id="{05C3C905-9D9F-9A22-5D93-4D07EB1BF6B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1722446" y="6183437"/>
            <a:ext cx="0" cy="33875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0E1BC371-B57C-D3F5-E397-E842BC7D0980}"/>
              </a:ext>
            </a:extLst>
          </p:cNvPr>
          <p:cNvSpPr/>
          <p:nvPr/>
        </p:nvSpPr>
        <p:spPr>
          <a:xfrm>
            <a:off x="5626749" y="2589235"/>
            <a:ext cx="1208160" cy="1007963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</a:rPr>
              <a:t>EMC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22" name="矩形: 圓角 7">
            <a:extLst>
              <a:ext uri="{FF2B5EF4-FFF2-40B4-BE49-F238E27FC236}">
                <a16:creationId xmlns:a16="http://schemas.microsoft.com/office/drawing/2014/main" id="{3CD0F37B-9DA2-D176-A81E-E939E0E21476}"/>
              </a:ext>
            </a:extLst>
          </p:cNvPr>
          <p:cNvSpPr/>
          <p:nvPr/>
        </p:nvSpPr>
        <p:spPr>
          <a:xfrm>
            <a:off x="3793252" y="5218709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</a:endParaRPr>
          </a:p>
        </p:txBody>
      </p:sp>
      <p:sp>
        <p:nvSpPr>
          <p:cNvPr id="23" name="矩形: 圓角 23">
            <a:extLst>
              <a:ext uri="{FF2B5EF4-FFF2-40B4-BE49-F238E27FC236}">
                <a16:creationId xmlns:a16="http://schemas.microsoft.com/office/drawing/2014/main" id="{E96307AD-B419-E9A2-D850-7104ADA12FBB}"/>
              </a:ext>
            </a:extLst>
          </p:cNvPr>
          <p:cNvSpPr/>
          <p:nvPr/>
        </p:nvSpPr>
        <p:spPr>
          <a:xfrm>
            <a:off x="5626749" y="1241755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</a:rPr>
              <a:t>SRAM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</a:rPr>
              <a:t>512KB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cxnSp>
        <p:nvCxnSpPr>
          <p:cNvPr id="24" name="直線單箭頭接點 48">
            <a:extLst>
              <a:ext uri="{FF2B5EF4-FFF2-40B4-BE49-F238E27FC236}">
                <a16:creationId xmlns:a16="http://schemas.microsoft.com/office/drawing/2014/main" id="{AAECC454-CF63-C6AD-AF6F-8D6B3422BA87}"/>
              </a:ext>
            </a:extLst>
          </p:cNvPr>
          <p:cNvCxnSpPr>
            <a:cxnSpLocks/>
            <a:stCxn id="23" idx="2"/>
            <a:endCxn id="20" idx="0"/>
          </p:cNvCxnSpPr>
          <p:nvPr/>
        </p:nvCxnSpPr>
        <p:spPr>
          <a:xfrm flipH="1">
            <a:off x="6230829" y="2286835"/>
            <a:ext cx="720" cy="30240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36" name="矩形: 圓角 7">
            <a:extLst>
              <a:ext uri="{FF2B5EF4-FFF2-40B4-BE49-F238E27FC236}">
                <a16:creationId xmlns:a16="http://schemas.microsoft.com/office/drawing/2014/main" id="{AD1C6C7A-1D74-BC78-85FF-55DDBC96EF90}"/>
              </a:ext>
            </a:extLst>
          </p:cNvPr>
          <p:cNvSpPr/>
          <p:nvPr/>
        </p:nvSpPr>
        <p:spPr>
          <a:xfrm>
            <a:off x="3945652" y="5371109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* 6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cxnSp>
        <p:nvCxnSpPr>
          <p:cNvPr id="41" name="直線單箭頭接點 14">
            <a:extLst>
              <a:ext uri="{FF2B5EF4-FFF2-40B4-BE49-F238E27FC236}">
                <a16:creationId xmlns:a16="http://schemas.microsoft.com/office/drawing/2014/main" id="{97F12786-E992-176A-A299-FCE60215DAF4}"/>
              </a:ext>
            </a:extLst>
          </p:cNvPr>
          <p:cNvCxnSpPr>
            <a:cxnSpLocks/>
          </p:cNvCxnSpPr>
          <p:nvPr/>
        </p:nvCxnSpPr>
        <p:spPr>
          <a:xfrm>
            <a:off x="4504859" y="6416189"/>
            <a:ext cx="0" cy="170277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63" name="文字方塊 22">
            <a:extLst>
              <a:ext uri="{FF2B5EF4-FFF2-40B4-BE49-F238E27FC236}">
                <a16:creationId xmlns:a16="http://schemas.microsoft.com/office/drawing/2014/main" id="{9F64AD77-728F-8091-ED23-3F0BE579DCF1}"/>
              </a:ext>
            </a:extLst>
          </p:cNvPr>
          <p:cNvSpPr/>
          <p:nvPr/>
        </p:nvSpPr>
        <p:spPr>
          <a:xfrm>
            <a:off x="2524212" y="6571388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</a:rPr>
              <a:t>PWM</a:t>
            </a:r>
            <a:r>
              <a:rPr lang="en-US" altLang="zh-TW" sz="1400" b="0" strike="noStrike" spc="-1" dirty="0">
                <a:solidFill>
                  <a:srgbClr val="000000"/>
                </a:solidFill>
              </a:rPr>
              <a:t>_</a:t>
            </a:r>
            <a:r>
              <a:rPr lang="en-US" sz="1400" b="0" strike="noStrike" spc="-1" dirty="0">
                <a:solidFill>
                  <a:srgbClr val="000000"/>
                </a:solidFill>
              </a:rPr>
              <a:t>0 ~ PWM</a:t>
            </a:r>
            <a:r>
              <a:rPr lang="en-US" altLang="zh-TW" sz="1400" b="0" strike="noStrike" spc="-1" dirty="0">
                <a:solidFill>
                  <a:srgbClr val="000000"/>
                </a:solidFill>
              </a:rPr>
              <a:t>_2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65" name="矩形: 圓角 23">
            <a:extLst>
              <a:ext uri="{FF2B5EF4-FFF2-40B4-BE49-F238E27FC236}">
                <a16:creationId xmlns:a16="http://schemas.microsoft.com/office/drawing/2014/main" id="{84D86F3F-5693-67BE-3F09-3BFE184E8E2F}"/>
              </a:ext>
            </a:extLst>
          </p:cNvPr>
          <p:cNvSpPr/>
          <p:nvPr/>
        </p:nvSpPr>
        <p:spPr>
          <a:xfrm>
            <a:off x="5939712" y="5115974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</a:rPr>
              <a:t>Quad-SPI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66" name="矩形: 圓角 23">
            <a:extLst>
              <a:ext uri="{FF2B5EF4-FFF2-40B4-BE49-F238E27FC236}">
                <a16:creationId xmlns:a16="http://schemas.microsoft.com/office/drawing/2014/main" id="{631FA26B-FA41-A9C7-3023-64348F6D51EF}"/>
              </a:ext>
            </a:extLst>
          </p:cNvPr>
          <p:cNvSpPr/>
          <p:nvPr/>
        </p:nvSpPr>
        <p:spPr>
          <a:xfrm>
            <a:off x="7429384" y="5115974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</a:rPr>
              <a:t>NOR</a:t>
            </a:r>
            <a:endParaRPr lang="en-US" sz="1400" spc="-1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</a:rPr>
              <a:t>Flash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</a:rPr>
              <a:t>4MB</a:t>
            </a:r>
          </a:p>
        </p:txBody>
      </p:sp>
      <p:cxnSp>
        <p:nvCxnSpPr>
          <p:cNvPr id="67" name="直線單箭頭接點 48">
            <a:extLst>
              <a:ext uri="{FF2B5EF4-FFF2-40B4-BE49-F238E27FC236}">
                <a16:creationId xmlns:a16="http://schemas.microsoft.com/office/drawing/2014/main" id="{70D58A8C-FC41-A1E5-288E-2675A1821F65}"/>
              </a:ext>
            </a:extLst>
          </p:cNvPr>
          <p:cNvCxnSpPr>
            <a:cxnSpLocks/>
            <a:stCxn id="66" idx="1"/>
            <a:endCxn id="65" idx="3"/>
          </p:cNvCxnSpPr>
          <p:nvPr/>
        </p:nvCxnSpPr>
        <p:spPr>
          <a:xfrm flipH="1">
            <a:off x="7149312" y="5638514"/>
            <a:ext cx="280072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7" name="矩形: 圓角 23">
            <a:extLst>
              <a:ext uri="{FF2B5EF4-FFF2-40B4-BE49-F238E27FC236}">
                <a16:creationId xmlns:a16="http://schemas.microsoft.com/office/drawing/2014/main" id="{AEC72BD8-9FAC-F5CF-41EC-7310309AE2B4}"/>
              </a:ext>
            </a:extLst>
          </p:cNvPr>
          <p:cNvSpPr/>
          <p:nvPr/>
        </p:nvSpPr>
        <p:spPr>
          <a:xfrm>
            <a:off x="9133467" y="5115974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AFA9E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XADC</a:t>
            </a:r>
            <a:endParaRPr lang="en-US" sz="1400" b="0" strike="noStrike" spc="-1" dirty="0">
              <a:solidFill>
                <a:schemeClr val="dk1"/>
              </a:solidFill>
              <a:ea typeface="Arial"/>
            </a:endParaRPr>
          </a:p>
        </p:txBody>
      </p:sp>
      <p:cxnSp>
        <p:nvCxnSpPr>
          <p:cNvPr id="99" name="直線單箭頭接點 14">
            <a:extLst>
              <a:ext uri="{FF2B5EF4-FFF2-40B4-BE49-F238E27FC236}">
                <a16:creationId xmlns:a16="http://schemas.microsoft.com/office/drawing/2014/main" id="{3208B2BB-4CEF-C9E8-9A01-2C47D408A4A3}"/>
              </a:ext>
            </a:extLst>
          </p:cNvPr>
          <p:cNvCxnSpPr>
            <a:cxnSpLocks/>
            <a:stCxn id="97" idx="2"/>
            <a:endCxn id="100" idx="0"/>
          </p:cNvCxnSpPr>
          <p:nvPr/>
        </p:nvCxnSpPr>
        <p:spPr>
          <a:xfrm>
            <a:off x="9738267" y="6161054"/>
            <a:ext cx="0" cy="380843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100" name="文字方塊 22">
            <a:extLst>
              <a:ext uri="{FF2B5EF4-FFF2-40B4-BE49-F238E27FC236}">
                <a16:creationId xmlns:a16="http://schemas.microsoft.com/office/drawing/2014/main" id="{E3FC18B7-03B7-E5E0-0495-E3C4E803DDB4}"/>
              </a:ext>
            </a:extLst>
          </p:cNvPr>
          <p:cNvSpPr/>
          <p:nvPr/>
        </p:nvSpPr>
        <p:spPr>
          <a:xfrm>
            <a:off x="7754111" y="654189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</a:rPr>
              <a:t>ADC_0 / ADC_1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0CACE-C115-81D7-ECFE-1E67B74E90A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>
                <a:latin typeface="+mn-lt"/>
              </a:rPr>
              <a:t>8</a:t>
            </a:fld>
            <a:endParaRPr lang="en-TW">
              <a:latin typeface="+mn-lt"/>
            </a:endParaRPr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BA056A37-2C82-8458-EB0C-6E3969F99DB1}"/>
              </a:ext>
            </a:extLst>
          </p:cNvPr>
          <p:cNvSpPr/>
          <p:nvPr/>
        </p:nvSpPr>
        <p:spPr>
          <a:xfrm rot="5400000">
            <a:off x="3670975" y="3763709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直線單箭頭接點 51">
            <a:extLst>
              <a:ext uri="{FF2B5EF4-FFF2-40B4-BE49-F238E27FC236}">
                <a16:creationId xmlns:a16="http://schemas.microsoft.com/office/drawing/2014/main" id="{05A595BA-6F4D-1A8E-AD8D-459A8B0F84F5}"/>
              </a:ext>
            </a:extLst>
          </p:cNvPr>
          <p:cNvCxnSpPr>
            <a:cxnSpLocks/>
            <a:stCxn id="71" idx="3"/>
            <a:endCxn id="70" idx="1"/>
          </p:cNvCxnSpPr>
          <p:nvPr/>
        </p:nvCxnSpPr>
        <p:spPr>
          <a:xfrm>
            <a:off x="2597404" y="3175281"/>
            <a:ext cx="562320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cxnSp>
        <p:nvCxnSpPr>
          <p:cNvPr id="35" name="直線單箭頭接點 51">
            <a:extLst>
              <a:ext uri="{FF2B5EF4-FFF2-40B4-BE49-F238E27FC236}">
                <a16:creationId xmlns:a16="http://schemas.microsoft.com/office/drawing/2014/main" id="{80EE79C7-9CA0-EDBC-5909-C43791CBD57F}"/>
              </a:ext>
            </a:extLst>
          </p:cNvPr>
          <p:cNvCxnSpPr>
            <a:cxnSpLocks/>
            <a:stCxn id="86" idx="3"/>
            <a:endCxn id="71" idx="1"/>
          </p:cNvCxnSpPr>
          <p:nvPr/>
        </p:nvCxnSpPr>
        <p:spPr>
          <a:xfrm flipV="1">
            <a:off x="885604" y="3175281"/>
            <a:ext cx="648000" cy="1602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39" name="箭號: 左-右雙向 38">
            <a:extLst>
              <a:ext uri="{FF2B5EF4-FFF2-40B4-BE49-F238E27FC236}">
                <a16:creationId xmlns:a16="http://schemas.microsoft.com/office/drawing/2014/main" id="{BF11FCEC-B937-91DA-764E-28D5A1070F86}"/>
              </a:ext>
            </a:extLst>
          </p:cNvPr>
          <p:cNvSpPr/>
          <p:nvPr/>
        </p:nvSpPr>
        <p:spPr>
          <a:xfrm rot="5400000">
            <a:off x="5983560" y="3763709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箭號: 左-右雙向 42">
            <a:extLst>
              <a:ext uri="{FF2B5EF4-FFF2-40B4-BE49-F238E27FC236}">
                <a16:creationId xmlns:a16="http://schemas.microsoft.com/office/drawing/2014/main" id="{19641AAB-F992-B2C9-1BC1-52F2BFBC9365}"/>
              </a:ext>
            </a:extLst>
          </p:cNvPr>
          <p:cNvSpPr/>
          <p:nvPr/>
        </p:nvSpPr>
        <p:spPr>
          <a:xfrm rot="5400000">
            <a:off x="9524836" y="3727351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箭號: 左-右雙向 43">
            <a:extLst>
              <a:ext uri="{FF2B5EF4-FFF2-40B4-BE49-F238E27FC236}">
                <a16:creationId xmlns:a16="http://schemas.microsoft.com/office/drawing/2014/main" id="{EDCF191D-2F8A-0641-3810-F5ACA131B656}"/>
              </a:ext>
            </a:extLst>
          </p:cNvPr>
          <p:cNvSpPr/>
          <p:nvPr/>
        </p:nvSpPr>
        <p:spPr>
          <a:xfrm rot="5400000">
            <a:off x="9517412" y="4672364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箭號: 左-右雙向 44">
            <a:extLst>
              <a:ext uri="{FF2B5EF4-FFF2-40B4-BE49-F238E27FC236}">
                <a16:creationId xmlns:a16="http://schemas.microsoft.com/office/drawing/2014/main" id="{6B504B2D-292A-A2BE-E1ED-9B196188AB25}"/>
              </a:ext>
            </a:extLst>
          </p:cNvPr>
          <p:cNvSpPr/>
          <p:nvPr/>
        </p:nvSpPr>
        <p:spPr>
          <a:xfrm rot="5400000">
            <a:off x="6296523" y="4671067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箭號: 左-右雙向 45">
            <a:extLst>
              <a:ext uri="{FF2B5EF4-FFF2-40B4-BE49-F238E27FC236}">
                <a16:creationId xmlns:a16="http://schemas.microsoft.com/office/drawing/2014/main" id="{F15D40AB-1C79-6CA8-BB68-EF82449878DB}"/>
              </a:ext>
            </a:extLst>
          </p:cNvPr>
          <p:cNvSpPr/>
          <p:nvPr/>
        </p:nvSpPr>
        <p:spPr>
          <a:xfrm rot="5400000">
            <a:off x="3997663" y="4672364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箭號: 左-右雙向 46">
            <a:extLst>
              <a:ext uri="{FF2B5EF4-FFF2-40B4-BE49-F238E27FC236}">
                <a16:creationId xmlns:a16="http://schemas.microsoft.com/office/drawing/2014/main" id="{28BFA901-37AE-2970-E717-B2600913A954}"/>
              </a:ext>
            </a:extLst>
          </p:cNvPr>
          <p:cNvSpPr/>
          <p:nvPr/>
        </p:nvSpPr>
        <p:spPr>
          <a:xfrm rot="5400000">
            <a:off x="1349897" y="4660335"/>
            <a:ext cx="495978" cy="249120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B3EDC-A309-94C5-D7DC-F5AD3B1C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4F7665A9-AC2C-762D-2B6E-C4436CF0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+mn-lt"/>
                <a:ea typeface="Calibri"/>
              </a:rPr>
              <a:t>Instruction Path vs Data Path</a:t>
            </a:r>
            <a:endParaRPr lang="en-US" sz="4000" b="0" strike="noStrike" spc="-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70" name="矩形: 圓角 3">
            <a:extLst>
              <a:ext uri="{FF2B5EF4-FFF2-40B4-BE49-F238E27FC236}">
                <a16:creationId xmlns:a16="http://schemas.microsoft.com/office/drawing/2014/main" id="{4B38E0FB-8E8C-E904-6AAD-00DAF005670B}"/>
              </a:ext>
            </a:extLst>
          </p:cNvPr>
          <p:cNvSpPr/>
          <p:nvPr/>
        </p:nvSpPr>
        <p:spPr>
          <a:xfrm>
            <a:off x="2217504" y="4047149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ea typeface="Arial"/>
              </a:rPr>
              <a:t>MicroBlaze V</a:t>
            </a:r>
            <a:endParaRPr lang="en-US" sz="1400" b="0" strike="noStrike" spc="-1">
              <a:solidFill>
                <a:srgbClr val="000000"/>
              </a:solidFill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F8CE3DE0-AB66-3F9D-A39F-187E999E9BE5}"/>
              </a:ext>
            </a:extLst>
          </p:cNvPr>
          <p:cNvSpPr/>
          <p:nvPr/>
        </p:nvSpPr>
        <p:spPr>
          <a:xfrm>
            <a:off x="357783" y="6072961"/>
            <a:ext cx="11476434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</a:endParaRPr>
          </a:p>
        </p:txBody>
      </p:sp>
      <p:sp>
        <p:nvSpPr>
          <p:cNvPr id="89" name="矩形: 圓角 40">
            <a:extLst>
              <a:ext uri="{FF2B5EF4-FFF2-40B4-BE49-F238E27FC236}">
                <a16:creationId xmlns:a16="http://schemas.microsoft.com/office/drawing/2014/main" id="{B7F58E37-A80C-88D4-5AF6-9295E3766375}"/>
              </a:ext>
            </a:extLst>
          </p:cNvPr>
          <p:cNvSpPr/>
          <p:nvPr/>
        </p:nvSpPr>
        <p:spPr>
          <a:xfrm>
            <a:off x="2217504" y="2901629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ea typeface="Arial"/>
              </a:rPr>
              <a:t>Local Memory</a:t>
            </a:r>
            <a:endParaRPr lang="en-US" sz="1400" b="0" strike="noStrike" spc="-1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ea typeface="Arial"/>
              </a:rPr>
              <a:t>Bus</a:t>
            </a:r>
            <a:endParaRPr lang="en-US" sz="1400" b="0" strike="noStrike" spc="-1">
              <a:solidFill>
                <a:srgbClr val="000000"/>
              </a:solidFill>
            </a:endParaRPr>
          </a:p>
        </p:txBody>
      </p:sp>
      <p:cxnSp>
        <p:nvCxnSpPr>
          <p:cNvPr id="90" name="直線單箭頭接點 43">
            <a:extLst>
              <a:ext uri="{FF2B5EF4-FFF2-40B4-BE49-F238E27FC236}">
                <a16:creationId xmlns:a16="http://schemas.microsoft.com/office/drawing/2014/main" id="{F9AF19C2-5090-702C-D170-6E609FFD4EB8}"/>
              </a:ext>
            </a:extLst>
          </p:cNvPr>
          <p:cNvCxnSpPr>
            <a:stCxn id="89" idx="2"/>
            <a:endCxn id="70" idx="0"/>
          </p:cNvCxnSpPr>
          <p:nvPr/>
        </p:nvCxnSpPr>
        <p:spPr>
          <a:xfrm>
            <a:off x="2976744" y="3716669"/>
            <a:ext cx="360" cy="3308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1" name="矩形: 圓角 44">
            <a:extLst>
              <a:ext uri="{FF2B5EF4-FFF2-40B4-BE49-F238E27FC236}">
                <a16:creationId xmlns:a16="http://schemas.microsoft.com/office/drawing/2014/main" id="{544A8586-0A13-B205-8F07-59222A176CE6}"/>
              </a:ext>
            </a:extLst>
          </p:cNvPr>
          <p:cNvSpPr/>
          <p:nvPr/>
        </p:nvSpPr>
        <p:spPr>
          <a:xfrm>
            <a:off x="2217324" y="1755909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Data Mem /</a:t>
            </a:r>
            <a:endParaRPr lang="en-US" sz="1400" spc="-1" dirty="0">
              <a:solidFill>
                <a:schemeClr val="dk1"/>
              </a:solidFill>
              <a:ea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</a:rPr>
              <a:t>Inst Mem /</a:t>
            </a:r>
            <a:endParaRPr lang="en-US" sz="1400" b="0" strike="noStrike" spc="-1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Shared 128KB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cxnSp>
        <p:nvCxnSpPr>
          <p:cNvPr id="94" name="直線單箭頭接點 51">
            <a:extLst>
              <a:ext uri="{FF2B5EF4-FFF2-40B4-BE49-F238E27FC236}">
                <a16:creationId xmlns:a16="http://schemas.microsoft.com/office/drawing/2014/main" id="{A08B72DD-477E-5AEF-02CB-D6883BD66362}"/>
              </a:ext>
            </a:extLst>
          </p:cNvPr>
          <p:cNvCxnSpPr>
            <a:cxnSpLocks/>
            <a:stCxn id="91" idx="2"/>
            <a:endCxn id="89" idx="0"/>
          </p:cNvCxnSpPr>
          <p:nvPr/>
        </p:nvCxnSpPr>
        <p:spPr>
          <a:xfrm>
            <a:off x="2976744" y="2570949"/>
            <a:ext cx="180" cy="33068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FA75E766-E83B-E04C-8A4A-2C300FA40729}"/>
              </a:ext>
            </a:extLst>
          </p:cNvPr>
          <p:cNvSpPr/>
          <p:nvPr/>
        </p:nvSpPr>
        <p:spPr>
          <a:xfrm>
            <a:off x="5091018" y="3858610"/>
            <a:ext cx="1208160" cy="1007963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</a:rPr>
              <a:t>EMC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23" name="矩形: 圓角 23">
            <a:extLst>
              <a:ext uri="{FF2B5EF4-FFF2-40B4-BE49-F238E27FC236}">
                <a16:creationId xmlns:a16="http://schemas.microsoft.com/office/drawing/2014/main" id="{B7BC6666-9CF9-EE27-835B-44D9039D2EA5}"/>
              </a:ext>
            </a:extLst>
          </p:cNvPr>
          <p:cNvSpPr/>
          <p:nvPr/>
        </p:nvSpPr>
        <p:spPr>
          <a:xfrm>
            <a:off x="5091018" y="2511130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</a:rPr>
              <a:t>SRAM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</a:rPr>
              <a:t>512KB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cxnSp>
        <p:nvCxnSpPr>
          <p:cNvPr id="24" name="直線單箭頭接點 48">
            <a:extLst>
              <a:ext uri="{FF2B5EF4-FFF2-40B4-BE49-F238E27FC236}">
                <a16:creationId xmlns:a16="http://schemas.microsoft.com/office/drawing/2014/main" id="{24A8A9E0-019A-7D11-C114-AE960F16CC3E}"/>
              </a:ext>
            </a:extLst>
          </p:cNvPr>
          <p:cNvCxnSpPr>
            <a:cxnSpLocks/>
            <a:stCxn id="23" idx="2"/>
            <a:endCxn id="20" idx="0"/>
          </p:cNvCxnSpPr>
          <p:nvPr/>
        </p:nvCxnSpPr>
        <p:spPr>
          <a:xfrm flipH="1">
            <a:off x="5695098" y="3556210"/>
            <a:ext cx="720" cy="30240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FBA3D-0F12-BC37-F542-0C79282917F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>
                <a:latin typeface="+mn-lt"/>
              </a:rPr>
              <a:t>9</a:t>
            </a:fld>
            <a:endParaRPr lang="en-TW">
              <a:latin typeface="+mn-lt"/>
            </a:endParaRPr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2DA41A05-6416-5C1E-8EAC-1A4252128A0B}"/>
              </a:ext>
            </a:extLst>
          </p:cNvPr>
          <p:cNvSpPr/>
          <p:nvPr/>
        </p:nvSpPr>
        <p:spPr>
          <a:xfrm rot="5400000">
            <a:off x="2179109" y="5316298"/>
            <a:ext cx="991956" cy="249120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箭號: 左-右雙向 9">
            <a:extLst>
              <a:ext uri="{FF2B5EF4-FFF2-40B4-BE49-F238E27FC236}">
                <a16:creationId xmlns:a16="http://schemas.microsoft.com/office/drawing/2014/main" id="{9478FF48-59AA-D23B-2B37-D1D3D43C7CCB}"/>
              </a:ext>
            </a:extLst>
          </p:cNvPr>
          <p:cNvSpPr/>
          <p:nvPr/>
        </p:nvSpPr>
        <p:spPr>
          <a:xfrm rot="5400000">
            <a:off x="2755715" y="5317832"/>
            <a:ext cx="991956" cy="249120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箭號: 左-右雙向 10">
            <a:extLst>
              <a:ext uri="{FF2B5EF4-FFF2-40B4-BE49-F238E27FC236}">
                <a16:creationId xmlns:a16="http://schemas.microsoft.com/office/drawing/2014/main" id="{3DC3A253-8676-1BA7-1395-F47C8BF049E7}"/>
              </a:ext>
            </a:extLst>
          </p:cNvPr>
          <p:cNvSpPr/>
          <p:nvPr/>
        </p:nvSpPr>
        <p:spPr>
          <a:xfrm rot="5400000">
            <a:off x="4953545" y="5372844"/>
            <a:ext cx="991956" cy="249120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3C19D0A3-7057-020B-9110-1B0E205EE477}"/>
              </a:ext>
            </a:extLst>
          </p:cNvPr>
          <p:cNvSpPr/>
          <p:nvPr/>
        </p:nvSpPr>
        <p:spPr>
          <a:xfrm rot="5400000">
            <a:off x="5445310" y="5372844"/>
            <a:ext cx="991956" cy="249120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06B00BD-FDE7-4B07-33A6-F5C99AAEFB34}"/>
              </a:ext>
            </a:extLst>
          </p:cNvPr>
          <p:cNvSpPr txBox="1"/>
          <p:nvPr/>
        </p:nvSpPr>
        <p:spPr>
          <a:xfrm>
            <a:off x="1528945" y="5268528"/>
            <a:ext cx="857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DP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8ECBB6B-C648-DDD4-1044-DDECB7873AE7}"/>
              </a:ext>
            </a:extLst>
          </p:cNvPr>
          <p:cNvSpPr txBox="1"/>
          <p:nvPr/>
        </p:nvSpPr>
        <p:spPr>
          <a:xfrm>
            <a:off x="4495404" y="5313505"/>
            <a:ext cx="857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DP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2C292B4-5C55-E4D4-0031-948718334209}"/>
              </a:ext>
            </a:extLst>
          </p:cNvPr>
          <p:cNvSpPr txBox="1"/>
          <p:nvPr/>
        </p:nvSpPr>
        <p:spPr>
          <a:xfrm>
            <a:off x="3368731" y="5255425"/>
            <a:ext cx="857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IP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0C8ED77-2BC0-CA86-CD18-C3CC4E181EB7}"/>
              </a:ext>
            </a:extLst>
          </p:cNvPr>
          <p:cNvSpPr txBox="1"/>
          <p:nvPr/>
        </p:nvSpPr>
        <p:spPr>
          <a:xfrm>
            <a:off x="6058327" y="5273624"/>
            <a:ext cx="857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IP</a:t>
            </a:r>
          </a:p>
        </p:txBody>
      </p:sp>
      <p:sp>
        <p:nvSpPr>
          <p:cNvPr id="2" name="矩形: 圓角 23">
            <a:extLst>
              <a:ext uri="{FF2B5EF4-FFF2-40B4-BE49-F238E27FC236}">
                <a16:creationId xmlns:a16="http://schemas.microsoft.com/office/drawing/2014/main" id="{1D2970AF-7377-52C0-77D3-B7E742CE4BFD}"/>
              </a:ext>
            </a:extLst>
          </p:cNvPr>
          <p:cNvSpPr/>
          <p:nvPr/>
        </p:nvSpPr>
        <p:spPr>
          <a:xfrm>
            <a:off x="7653852" y="384327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</a:rPr>
              <a:t>Quad-SPI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3" name="矩形: 圓角 23">
            <a:extLst>
              <a:ext uri="{FF2B5EF4-FFF2-40B4-BE49-F238E27FC236}">
                <a16:creationId xmlns:a16="http://schemas.microsoft.com/office/drawing/2014/main" id="{76C09D02-6452-2912-EC84-9A94FC086A37}"/>
              </a:ext>
            </a:extLst>
          </p:cNvPr>
          <p:cNvSpPr/>
          <p:nvPr/>
        </p:nvSpPr>
        <p:spPr>
          <a:xfrm>
            <a:off x="7653852" y="2457879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</a:rPr>
              <a:t>NOR</a:t>
            </a:r>
            <a:endParaRPr lang="en-US" sz="1400" spc="-1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</a:rPr>
              <a:t>Flash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</a:rPr>
              <a:t>4MB</a:t>
            </a:r>
          </a:p>
        </p:txBody>
      </p:sp>
      <p:cxnSp>
        <p:nvCxnSpPr>
          <p:cNvPr id="4" name="直線單箭頭接點 48">
            <a:extLst>
              <a:ext uri="{FF2B5EF4-FFF2-40B4-BE49-F238E27FC236}">
                <a16:creationId xmlns:a16="http://schemas.microsoft.com/office/drawing/2014/main" id="{9985DF57-585C-5757-002F-AFF8B93B366C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8258652" y="3502959"/>
            <a:ext cx="0" cy="340317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" name="箭號: 左-右雙向 8">
            <a:extLst>
              <a:ext uri="{FF2B5EF4-FFF2-40B4-BE49-F238E27FC236}">
                <a16:creationId xmlns:a16="http://schemas.microsoft.com/office/drawing/2014/main" id="{C1EE47B8-9007-D52B-C6E5-42BDD313FFA5}"/>
              </a:ext>
            </a:extLst>
          </p:cNvPr>
          <p:cNvSpPr/>
          <p:nvPr/>
        </p:nvSpPr>
        <p:spPr>
          <a:xfrm rot="5400000">
            <a:off x="7587182" y="5316298"/>
            <a:ext cx="991956" cy="249120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3AF3847-B1D6-F433-9017-10AE2E12D3BF}"/>
              </a:ext>
            </a:extLst>
          </p:cNvPr>
          <p:cNvSpPr txBox="1"/>
          <p:nvPr/>
        </p:nvSpPr>
        <p:spPr>
          <a:xfrm>
            <a:off x="7157000" y="5262293"/>
            <a:ext cx="857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DP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FD0DFC2-61B2-9D5F-C002-CBAE2354E191}"/>
              </a:ext>
            </a:extLst>
          </p:cNvPr>
          <p:cNvSpPr txBox="1"/>
          <p:nvPr/>
        </p:nvSpPr>
        <p:spPr>
          <a:xfrm>
            <a:off x="9310249" y="2657253"/>
            <a:ext cx="2299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XIP (Execute in Place) is</a:t>
            </a:r>
            <a:r>
              <a:rPr lang="zh-TW" altLang="en-US" dirty="0"/>
              <a:t> </a:t>
            </a:r>
            <a:r>
              <a:rPr lang="en-US" altLang="zh-TW" dirty="0"/>
              <a:t>supported</a:t>
            </a:r>
            <a:endParaRPr lang="en-US" dirty="0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3E275E0A-0C6C-05AA-8DB5-2886262EF066}"/>
              </a:ext>
            </a:extLst>
          </p:cNvPr>
          <p:cNvCxnSpPr>
            <a:stCxn id="3" idx="3"/>
            <a:endCxn id="13" idx="1"/>
          </p:cNvCxnSpPr>
          <p:nvPr/>
        </p:nvCxnSpPr>
        <p:spPr>
          <a:xfrm>
            <a:off x="8863452" y="2980419"/>
            <a:ext cx="44679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箭號: 左-右雙向 24">
            <a:extLst>
              <a:ext uri="{FF2B5EF4-FFF2-40B4-BE49-F238E27FC236}">
                <a16:creationId xmlns:a16="http://schemas.microsoft.com/office/drawing/2014/main" id="{32AD87AD-19FC-11F5-2572-0BAFDBDFCA3F}"/>
              </a:ext>
            </a:extLst>
          </p:cNvPr>
          <p:cNvSpPr/>
          <p:nvPr/>
        </p:nvSpPr>
        <p:spPr>
          <a:xfrm rot="5400000">
            <a:off x="7995125" y="5314235"/>
            <a:ext cx="991956" cy="249120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2C183AF0-4C0B-C5D6-F705-89C4F5527C9D}"/>
              </a:ext>
            </a:extLst>
          </p:cNvPr>
          <p:cNvSpPr txBox="1"/>
          <p:nvPr/>
        </p:nvSpPr>
        <p:spPr>
          <a:xfrm>
            <a:off x="8608142" y="5215015"/>
            <a:ext cx="857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IP</a:t>
            </a:r>
          </a:p>
        </p:txBody>
      </p:sp>
    </p:spTree>
    <p:extLst>
      <p:ext uri="{BB962C8B-B14F-4D97-AF65-F5344CB8AC3E}">
        <p14:creationId xmlns:p14="http://schemas.microsoft.com/office/powerpoint/2010/main" val="298182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25FA8-6701-FE87-7508-884C773C8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A37A3AAA-108C-313C-A6F1-D6EB5172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ea typeface="Calibri"/>
              </a:rPr>
              <a:t>Instruction </a:t>
            </a:r>
            <a:r>
              <a:rPr lang="en-US" altLang="zh-TW" sz="4000" b="1" spc="-1" dirty="0">
                <a:solidFill>
                  <a:srgbClr val="DDDDDD"/>
                </a:solidFill>
                <a:ea typeface="Calibri"/>
              </a:rPr>
              <a:t>Network</a:t>
            </a:r>
            <a:r>
              <a:rPr lang="en-US" sz="4000" b="1" strike="noStrike" spc="-1" dirty="0">
                <a:solidFill>
                  <a:srgbClr val="DDDDDD"/>
                </a:solidFill>
                <a:ea typeface="Calibri"/>
              </a:rPr>
              <a:t> / Data Network</a:t>
            </a:r>
            <a:endParaRPr lang="en-US" sz="40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4BD7F-4885-2101-FDE4-CC5D8F72E6D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>
                <a:latin typeface="+mj-lt"/>
              </a:rPr>
              <a:t>10</a:t>
            </a:fld>
            <a:endParaRPr lang="en-TW">
              <a:latin typeface="+mj-lt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26046B6-0CB9-8E26-B12E-49ECD1A08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967" y="1299246"/>
            <a:ext cx="7528066" cy="538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45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1CBEE-344E-4473-44B9-BC4555CC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C8B1B4-C4CF-32E2-281A-8D71EAB2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bg1">
                    <a:lumMod val="85000"/>
                  </a:schemeClr>
                </a:solidFill>
                <a:cs typeface="Calibri" panose="020F0502020204030204" pitchFamily="34" charset="0"/>
              </a:rPr>
              <a:t>Memory-Mapped I/O vs SFR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F33343-238B-E602-E1A4-D78BF8167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cs typeface="Times New Roman" panose="02020603050405020304" pitchFamily="18" charset="0"/>
              </a:rPr>
              <a:t>Memory-Mapped I/O (MMIO): </a:t>
            </a:r>
          </a:p>
          <a:p>
            <a:pPr lvl="1"/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Peripherals are mapped into the memory address space 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Accessed using normal load/store instructions 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Easy to integrate and extend (add new devices by assigning new addresses) </a:t>
            </a: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r>
              <a:rPr lang="en-US" sz="2400" dirty="0">
                <a:cs typeface="Times New Roman" panose="02020603050405020304" pitchFamily="18" charset="0"/>
              </a:rPr>
              <a:t>SFR (Special Function Registers) in traditional MCUs (e.g., PIC): </a:t>
            </a:r>
          </a:p>
          <a:p>
            <a:pPr lvl="1"/>
            <a:r>
              <a:rPr 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Peripheral control uses dedicated special registers</a:t>
            </a:r>
            <a:r>
              <a:rPr lang="en-US" dirty="0"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Often requires bank selection / bit-level control 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Less flexible when scaling to more peripherals</a:t>
            </a:r>
          </a:p>
        </p:txBody>
      </p:sp>
    </p:spTree>
    <p:extLst>
      <p:ext uri="{BB962C8B-B14F-4D97-AF65-F5344CB8AC3E}">
        <p14:creationId xmlns:p14="http://schemas.microsoft.com/office/powerpoint/2010/main" val="2803053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883E-C9AB-0CAE-0BBB-12C92804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BEBA76-2919-629E-6585-B915CDBC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>
                <a:solidFill>
                  <a:schemeClr val="bg1">
                    <a:lumMod val="85000"/>
                  </a:schemeClr>
                </a:solidFill>
                <a:cs typeface="Calibri" panose="020F0502020204030204" pitchFamily="34" charset="0"/>
              </a:rPr>
              <a:t>AXI Mapping</a:t>
            </a:r>
            <a:endParaRPr lang="en-US" sz="4000" b="1" dirty="0">
              <a:solidFill>
                <a:schemeClr val="bg1">
                  <a:lumMod val="8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8CDDF9-280C-6BDC-C755-4CEC71302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2725"/>
            <a:ext cx="5761037" cy="511333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each peripheral is mapped to a memory address range,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address region does not correspond to physical 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AXI address decoding and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logic forwards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transactions to the target peripheral’s register interface (MMIO).</a:t>
            </a:r>
          </a:p>
        </p:txBody>
      </p:sp>
      <p:pic>
        <p:nvPicPr>
          <p:cNvPr id="6" name="圖片 5" descr="一張含有 文字, 圖表, 螢幕擷取畫面, 平行 的圖片&#10;&#10;AI 產生的內容可能不正確。">
            <a:extLst>
              <a:ext uri="{FF2B5EF4-FFF2-40B4-BE49-F238E27FC236}">
                <a16:creationId xmlns:a16="http://schemas.microsoft.com/office/drawing/2014/main" id="{24751282-FBD7-F506-7998-893B5B9A1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1906172"/>
            <a:ext cx="5640959" cy="383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54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0021F1-BA58-7AF4-2F56-55F9FF8F2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Microcontroller Overview</a:t>
            </a:r>
            <a:r>
              <a:rPr lang="en-US" altLang="zh-TW" dirty="0"/>
              <a:t> 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24A009-F66A-9ACC-E755-3676A3BD1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Processor: </a:t>
            </a:r>
            <a:r>
              <a:rPr lang="en-US" sz="2400" dirty="0" err="1"/>
              <a:t>MicroBlaze</a:t>
            </a:r>
            <a:r>
              <a:rPr lang="en-US" sz="2400" dirty="0"/>
              <a:t> RISC-V, </a:t>
            </a:r>
            <a:r>
              <a:rPr lang="en-US" sz="2400" dirty="0">
                <a:solidFill>
                  <a:srgbClr val="FF0000"/>
                </a:solidFill>
              </a:rPr>
              <a:t>32-bit</a:t>
            </a:r>
            <a:r>
              <a:rPr lang="en-US" sz="2400" dirty="0"/>
              <a:t>, Single Core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Clock: 100 MHz (12 MHz OSC → Clocking Wizard PLL)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ISA Extensions: </a:t>
            </a:r>
            <a:r>
              <a:rPr lang="en-US" sz="2400" b="1" dirty="0"/>
              <a:t>RV32IM_Zba_Zbb_Zbc_Zbs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Local Memory: 128 KB BRAM (ILMB + DLMB)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Cache: </a:t>
            </a:r>
            <a:r>
              <a:rPr lang="en-US" sz="2400" dirty="0">
                <a:solidFill>
                  <a:srgbClr val="FF0000"/>
                </a:solidFill>
              </a:rPr>
              <a:t>Disabled</a:t>
            </a:r>
            <a:r>
              <a:rPr lang="en-US" sz="2400" dirty="0"/>
              <a:t> (I-Cache &amp; D-Cache both off)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Debug: </a:t>
            </a:r>
            <a:r>
              <a:rPr lang="en-US" sz="2400" dirty="0">
                <a:solidFill>
                  <a:srgbClr val="FF0000"/>
                </a:solidFill>
              </a:rPr>
              <a:t>MDM JTAG </a:t>
            </a:r>
            <a:r>
              <a:rPr lang="en-US" sz="2400" dirty="0"/>
              <a:t>— breakpoints, register, memory R/W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Interrupt: AXI INTC, 6 sources (3 Timer + 2 UART + 1 GPIO)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5DF62F-4D23-B66F-49B5-B952C776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pPr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5163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01C01-7C92-39CC-4B8F-4B1732B5E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3177F8-6405-582A-CBD3-A88CAB2E8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Overview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DA9CBA-B097-DCEC-6E87-741E3303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282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8462-C43F-E9EA-D127-4C195C2A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9DBA6B44-6775-867E-1F31-A1EEDDA55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+mn-lt"/>
                <a:ea typeface="Calibri"/>
              </a:rPr>
              <a:t>GPIO</a:t>
            </a:r>
            <a:endParaRPr lang="en-US" sz="4000" b="0" strike="noStrike" spc="-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313F560E-E749-52CC-8F64-F7B1BF99A4CA}"/>
              </a:ext>
            </a:extLst>
          </p:cNvPr>
          <p:cNvSpPr/>
          <p:nvPr/>
        </p:nvSpPr>
        <p:spPr>
          <a:xfrm rot="16200000">
            <a:off x="-1109822" y="3944808"/>
            <a:ext cx="5255491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</a:endParaRPr>
          </a:p>
        </p:txBody>
      </p:sp>
      <p:sp>
        <p:nvSpPr>
          <p:cNvPr id="5" name="矩形: 圓角 6">
            <a:extLst>
              <a:ext uri="{FF2B5EF4-FFF2-40B4-BE49-F238E27FC236}">
                <a16:creationId xmlns:a16="http://schemas.microsoft.com/office/drawing/2014/main" id="{FDB0D2F4-683D-9B37-37CD-CE9776DEBD5D}"/>
              </a:ext>
            </a:extLst>
          </p:cNvPr>
          <p:cNvSpPr/>
          <p:nvPr/>
        </p:nvSpPr>
        <p:spPr>
          <a:xfrm>
            <a:off x="2374208" y="2273575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pio_B_0_6 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6" name="矩形: 圓角 6">
            <a:extLst>
              <a:ext uri="{FF2B5EF4-FFF2-40B4-BE49-F238E27FC236}">
                <a16:creationId xmlns:a16="http://schemas.microsoft.com/office/drawing/2014/main" id="{7D86F638-53B7-FBB7-BB70-1AE014CB954C}"/>
              </a:ext>
            </a:extLst>
          </p:cNvPr>
          <p:cNvSpPr/>
          <p:nvPr/>
        </p:nvSpPr>
        <p:spPr>
          <a:xfrm>
            <a:off x="2374208" y="1622574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pio_A_0_6 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68B26E7-769B-193F-2BB0-683B416D7B7C}"/>
              </a:ext>
            </a:extLst>
          </p:cNvPr>
          <p:cNvSpPr/>
          <p:nvPr/>
        </p:nvSpPr>
        <p:spPr>
          <a:xfrm>
            <a:off x="2374208" y="2924576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pio_C_0_6 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8" name="矩形: 圓角 6">
            <a:extLst>
              <a:ext uri="{FF2B5EF4-FFF2-40B4-BE49-F238E27FC236}">
                <a16:creationId xmlns:a16="http://schemas.microsoft.com/office/drawing/2014/main" id="{2EFB9D37-D71B-A6A0-5A1C-BE4476A3DC4D}"/>
              </a:ext>
            </a:extLst>
          </p:cNvPr>
          <p:cNvSpPr/>
          <p:nvPr/>
        </p:nvSpPr>
        <p:spPr>
          <a:xfrm>
            <a:off x="2374207" y="6179581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</a:rPr>
              <a:t>INT_0_3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9" name="矩形: 圓角 6">
            <a:extLst>
              <a:ext uri="{FF2B5EF4-FFF2-40B4-BE49-F238E27FC236}">
                <a16:creationId xmlns:a16="http://schemas.microsoft.com/office/drawing/2014/main" id="{3E4FB514-0861-C5E6-A815-094CAB3AE3B8}"/>
              </a:ext>
            </a:extLst>
          </p:cNvPr>
          <p:cNvSpPr/>
          <p:nvPr/>
        </p:nvSpPr>
        <p:spPr>
          <a:xfrm>
            <a:off x="2374207" y="5528580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chemeClr val="dk1"/>
                </a:solidFill>
                <a:ea typeface="Arial"/>
              </a:rPr>
              <a:t>board_button</a:t>
            </a: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 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10" name="矩形: 圓角 6">
            <a:extLst>
              <a:ext uri="{FF2B5EF4-FFF2-40B4-BE49-F238E27FC236}">
                <a16:creationId xmlns:a16="http://schemas.microsoft.com/office/drawing/2014/main" id="{A4B7AEA9-036B-F357-551B-DF8F92650373}"/>
              </a:ext>
            </a:extLst>
          </p:cNvPr>
          <p:cNvSpPr/>
          <p:nvPr/>
        </p:nvSpPr>
        <p:spPr>
          <a:xfrm>
            <a:off x="2374208" y="4877579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 err="1">
                <a:solidFill>
                  <a:srgbClr val="000000"/>
                </a:solidFill>
              </a:rPr>
              <a:t>b</a:t>
            </a:r>
            <a:r>
              <a:rPr lang="en-US" sz="1400" b="0" strike="noStrike" spc="-1" dirty="0" err="1">
                <a:solidFill>
                  <a:srgbClr val="000000"/>
                </a:solidFill>
              </a:rPr>
              <a:t>oard_rgb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11" name="矩形: 圓角 6">
            <a:extLst>
              <a:ext uri="{FF2B5EF4-FFF2-40B4-BE49-F238E27FC236}">
                <a16:creationId xmlns:a16="http://schemas.microsoft.com/office/drawing/2014/main" id="{16A8153A-02EA-E048-23EE-6850B081E8B2}"/>
              </a:ext>
            </a:extLst>
          </p:cNvPr>
          <p:cNvSpPr/>
          <p:nvPr/>
        </p:nvSpPr>
        <p:spPr>
          <a:xfrm>
            <a:off x="2374207" y="4226578"/>
            <a:ext cx="1565590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</a:rPr>
              <a:t>b</a:t>
            </a:r>
            <a:r>
              <a:rPr lang="en-US" sz="1400" b="0" strike="noStrike" spc="-1" dirty="0">
                <a:solidFill>
                  <a:srgbClr val="000000"/>
                </a:solidFill>
              </a:rPr>
              <a:t>oard_led_2bits</a:t>
            </a:r>
          </a:p>
        </p:txBody>
      </p:sp>
      <p:sp>
        <p:nvSpPr>
          <p:cNvPr id="12" name="矩形: 圓角 6">
            <a:extLst>
              <a:ext uri="{FF2B5EF4-FFF2-40B4-BE49-F238E27FC236}">
                <a16:creationId xmlns:a16="http://schemas.microsoft.com/office/drawing/2014/main" id="{9ABD357E-7620-7280-3F1F-C6980EDCFDCC}"/>
              </a:ext>
            </a:extLst>
          </p:cNvPr>
          <p:cNvSpPr/>
          <p:nvPr/>
        </p:nvSpPr>
        <p:spPr>
          <a:xfrm>
            <a:off x="2374207" y="3575577"/>
            <a:ext cx="1565589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pio_D_0_6 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13" name="箭號: 左-右雙向 12">
            <a:extLst>
              <a:ext uri="{FF2B5EF4-FFF2-40B4-BE49-F238E27FC236}">
                <a16:creationId xmlns:a16="http://schemas.microsoft.com/office/drawing/2014/main" id="{05D0F98D-04FF-23DD-7CF3-4073491E6E20}"/>
              </a:ext>
            </a:extLst>
          </p:cNvPr>
          <p:cNvSpPr/>
          <p:nvPr/>
        </p:nvSpPr>
        <p:spPr>
          <a:xfrm>
            <a:off x="1688835" y="3859784"/>
            <a:ext cx="641900" cy="424927"/>
          </a:xfrm>
          <a:prstGeom prst="left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C6962E10-D259-93A7-C51A-C7E0CBAB5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767" y="213893"/>
            <a:ext cx="7152232" cy="246977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1147095D-9A2E-5B32-DB24-968674E8A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767" y="2789036"/>
            <a:ext cx="7152233" cy="2739544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F4F78927-784B-8083-C9FE-52096C18D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764" y="4997051"/>
            <a:ext cx="7143551" cy="183168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3657CB-D09E-4293-DDDA-D96BC06E50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>
                <a:latin typeface="+mn-lt"/>
              </a:rPr>
              <a:t>15</a:t>
            </a:fld>
            <a:endParaRPr lang="en-TW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0067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27140-E62E-805B-2C73-2414476F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F331A3-B22A-7C38-2326-B5002358A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" dirty="0">
                <a:ea typeface="Calibri"/>
              </a:rPr>
              <a:t>Timer &amp; PWM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2CBC3C-7D41-4506-7172-D2881A91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8" name="矩形 12">
            <a:extLst>
              <a:ext uri="{FF2B5EF4-FFF2-40B4-BE49-F238E27FC236}">
                <a16:creationId xmlns:a16="http://schemas.microsoft.com/office/drawing/2014/main" id="{45C7207C-565A-FDDA-2627-271B76A1375E}"/>
              </a:ext>
            </a:extLst>
          </p:cNvPr>
          <p:cNvSpPr/>
          <p:nvPr/>
        </p:nvSpPr>
        <p:spPr>
          <a:xfrm rot="16200000">
            <a:off x="-1553476" y="3826668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</a:endParaRPr>
          </a:p>
        </p:txBody>
      </p:sp>
      <p:sp>
        <p:nvSpPr>
          <p:cNvPr id="9" name="矩形: 圓角 7">
            <a:extLst>
              <a:ext uri="{FF2B5EF4-FFF2-40B4-BE49-F238E27FC236}">
                <a16:creationId xmlns:a16="http://schemas.microsoft.com/office/drawing/2014/main" id="{21204A95-99AB-0AC7-CE13-D62E2388E816}"/>
              </a:ext>
            </a:extLst>
          </p:cNvPr>
          <p:cNvSpPr/>
          <p:nvPr/>
        </p:nvSpPr>
        <p:spPr>
          <a:xfrm>
            <a:off x="5720703" y="177023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10" name="矩形: 圓角 7">
            <a:extLst>
              <a:ext uri="{FF2B5EF4-FFF2-40B4-BE49-F238E27FC236}">
                <a16:creationId xmlns:a16="http://schemas.microsoft.com/office/drawing/2014/main" id="{AD801A73-950F-928B-6ED1-DA2F64411BE8}"/>
              </a:ext>
            </a:extLst>
          </p:cNvPr>
          <p:cNvSpPr/>
          <p:nvPr/>
        </p:nvSpPr>
        <p:spPr>
          <a:xfrm>
            <a:off x="2035833" y="338892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</a:rPr>
              <a:t>Core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B883DE4-9E6F-D11C-620F-4DB88A62D09D}"/>
              </a:ext>
            </a:extLst>
          </p:cNvPr>
          <p:cNvSpPr/>
          <p:nvPr/>
        </p:nvSpPr>
        <p:spPr>
          <a:xfrm>
            <a:off x="2035833" y="177541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12" name="矩形: 圓角 7">
            <a:extLst>
              <a:ext uri="{FF2B5EF4-FFF2-40B4-BE49-F238E27FC236}">
                <a16:creationId xmlns:a16="http://schemas.microsoft.com/office/drawing/2014/main" id="{B5C36751-BE8C-7392-1C11-0FDEFF2F9F6A}"/>
              </a:ext>
            </a:extLst>
          </p:cNvPr>
          <p:cNvSpPr/>
          <p:nvPr/>
        </p:nvSpPr>
        <p:spPr>
          <a:xfrm>
            <a:off x="3778848" y="1775416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13" name="矩形: 圓角 7">
            <a:extLst>
              <a:ext uri="{FF2B5EF4-FFF2-40B4-BE49-F238E27FC236}">
                <a16:creationId xmlns:a16="http://schemas.microsoft.com/office/drawing/2014/main" id="{D63691F1-25F3-A2D3-672C-493D8E48C8AB}"/>
              </a:ext>
            </a:extLst>
          </p:cNvPr>
          <p:cNvSpPr/>
          <p:nvPr/>
        </p:nvSpPr>
        <p:spPr>
          <a:xfrm>
            <a:off x="5873103" y="192263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14" name="矩形: 圓角 7">
            <a:extLst>
              <a:ext uri="{FF2B5EF4-FFF2-40B4-BE49-F238E27FC236}">
                <a16:creationId xmlns:a16="http://schemas.microsoft.com/office/drawing/2014/main" id="{F41E5CEB-F023-F89F-5B1F-A59F8F650E06}"/>
              </a:ext>
            </a:extLst>
          </p:cNvPr>
          <p:cNvSpPr/>
          <p:nvPr/>
        </p:nvSpPr>
        <p:spPr>
          <a:xfrm>
            <a:off x="6025503" y="207503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15" name="箭號: 上-下雙向 14">
            <a:extLst>
              <a:ext uri="{FF2B5EF4-FFF2-40B4-BE49-F238E27FC236}">
                <a16:creationId xmlns:a16="http://schemas.microsoft.com/office/drawing/2014/main" id="{576C96F8-5AF0-328B-0846-1C2E82B91227}"/>
              </a:ext>
            </a:extLst>
          </p:cNvPr>
          <p:cNvSpPr/>
          <p:nvPr/>
        </p:nvSpPr>
        <p:spPr>
          <a:xfrm rot="16200000">
            <a:off x="1182303" y="1866930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箭號: 上-下雙向 15">
            <a:extLst>
              <a:ext uri="{FF2B5EF4-FFF2-40B4-BE49-F238E27FC236}">
                <a16:creationId xmlns:a16="http://schemas.microsoft.com/office/drawing/2014/main" id="{11825F29-E490-9B6E-BC35-C4F7605A3CEF}"/>
              </a:ext>
            </a:extLst>
          </p:cNvPr>
          <p:cNvSpPr/>
          <p:nvPr/>
        </p:nvSpPr>
        <p:spPr>
          <a:xfrm rot="16200000">
            <a:off x="1182304" y="3460058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A8877B3-8F14-B776-22F0-ECDF00034F3B}"/>
              </a:ext>
            </a:extLst>
          </p:cNvPr>
          <p:cNvCxnSpPr>
            <a:cxnSpLocks/>
            <a:stCxn id="9" idx="1"/>
            <a:endCxn id="12" idx="3"/>
          </p:cNvCxnSpPr>
          <p:nvPr/>
        </p:nvCxnSpPr>
        <p:spPr>
          <a:xfrm flipH="1">
            <a:off x="4988448" y="2292775"/>
            <a:ext cx="732255" cy="5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A1406306-719D-A532-0829-62AB091EE6FC}"/>
              </a:ext>
            </a:extLst>
          </p:cNvPr>
          <p:cNvCxnSpPr>
            <a:cxnSpLocks/>
            <a:stCxn id="9" idx="1"/>
            <a:endCxn id="12" idx="3"/>
          </p:cNvCxnSpPr>
          <p:nvPr/>
        </p:nvCxnSpPr>
        <p:spPr>
          <a:xfrm flipH="1">
            <a:off x="4988448" y="2292775"/>
            <a:ext cx="732255" cy="5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75A4ED7D-410E-CFC2-1DC2-34292EC13C77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>
            <a:off x="3245433" y="2297956"/>
            <a:ext cx="5334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63BAA1D-6E50-4206-F18B-877D9DCE23F0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2640633" y="2820496"/>
            <a:ext cx="0" cy="568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E549C7E-30D1-96E9-DC32-C1425E73C081}"/>
              </a:ext>
            </a:extLst>
          </p:cNvPr>
          <p:cNvSpPr txBox="1"/>
          <p:nvPr/>
        </p:nvSpPr>
        <p:spPr>
          <a:xfrm>
            <a:off x="2701587" y="292004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irq</a:t>
            </a:r>
            <a:endParaRPr lang="en-US" dirty="0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12CF6786-7E05-F221-23E6-7CD76ABCF40E}"/>
              </a:ext>
            </a:extLst>
          </p:cNvPr>
          <p:cNvSpPr/>
          <p:nvPr/>
        </p:nvSpPr>
        <p:spPr>
          <a:xfrm>
            <a:off x="2087594" y="500244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23" name="矩形: 圓角 7">
            <a:extLst>
              <a:ext uri="{FF2B5EF4-FFF2-40B4-BE49-F238E27FC236}">
                <a16:creationId xmlns:a16="http://schemas.microsoft.com/office/drawing/2014/main" id="{CB7D7E30-64C5-598B-D5A5-65C0412AD6C5}"/>
              </a:ext>
            </a:extLst>
          </p:cNvPr>
          <p:cNvSpPr/>
          <p:nvPr/>
        </p:nvSpPr>
        <p:spPr>
          <a:xfrm>
            <a:off x="2239994" y="515484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24" name="矩形: 圓角 7">
            <a:extLst>
              <a:ext uri="{FF2B5EF4-FFF2-40B4-BE49-F238E27FC236}">
                <a16:creationId xmlns:a16="http://schemas.microsoft.com/office/drawing/2014/main" id="{CE36A980-A223-2329-AAC0-E13AB1CF87AD}"/>
              </a:ext>
            </a:extLst>
          </p:cNvPr>
          <p:cNvSpPr/>
          <p:nvPr/>
        </p:nvSpPr>
        <p:spPr>
          <a:xfrm>
            <a:off x="2392394" y="530724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25" name="箭號: 上-下雙向 24">
            <a:extLst>
              <a:ext uri="{FF2B5EF4-FFF2-40B4-BE49-F238E27FC236}">
                <a16:creationId xmlns:a16="http://schemas.microsoft.com/office/drawing/2014/main" id="{0484D469-26CF-F61C-CCC1-E1FA20E83F9B}"/>
              </a:ext>
            </a:extLst>
          </p:cNvPr>
          <p:cNvSpPr/>
          <p:nvPr/>
        </p:nvSpPr>
        <p:spPr>
          <a:xfrm rot="16200000">
            <a:off x="1182304" y="5103898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A091832F-95D1-6E3B-A409-E747BD74018C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>
          <a:xfrm>
            <a:off x="3601994" y="5829780"/>
            <a:ext cx="6829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54CCF5A-E582-9A1C-4E9E-2C59B9E308BE}"/>
              </a:ext>
            </a:extLst>
          </p:cNvPr>
          <p:cNvSpPr txBox="1"/>
          <p:nvPr/>
        </p:nvSpPr>
        <p:spPr>
          <a:xfrm>
            <a:off x="4284925" y="5645114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PWM_0 ~ PWM_2</a:t>
            </a:r>
            <a:endParaRPr lang="en-US" dirty="0"/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35948F27-D795-BBD0-313C-D3BD48DA8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7503" y="1482725"/>
            <a:ext cx="4563199" cy="5113338"/>
          </a:xfrm>
        </p:spPr>
        <p:txBody>
          <a:bodyPr/>
          <a:lstStyle/>
          <a:p>
            <a:r>
              <a:rPr lang="en-US" sz="1800" dirty="0"/>
              <a:t>6 AXI Timer Instances — Two Roles:</a:t>
            </a:r>
          </a:p>
          <a:p>
            <a:pPr lvl="1"/>
            <a:r>
              <a:rPr lang="en-US" sz="1800" dirty="0"/>
              <a:t>3 × </a:t>
            </a:r>
            <a:r>
              <a:rPr lang="en-US" sz="1800" dirty="0">
                <a:solidFill>
                  <a:srgbClr val="FF0000"/>
                </a:solidFill>
              </a:rPr>
              <a:t>System Timers </a:t>
            </a:r>
            <a:r>
              <a:rPr lang="en-US" sz="1800" dirty="0"/>
              <a:t>(timer_0 / timer_1 / timer_2)</a:t>
            </a:r>
          </a:p>
          <a:p>
            <a:pPr lvl="2"/>
            <a:r>
              <a:rPr lang="en-US" sz="1800" dirty="0"/>
              <a:t>Connected to AXI Interrupt Controller</a:t>
            </a:r>
          </a:p>
          <a:p>
            <a:pPr lvl="1"/>
            <a:r>
              <a:rPr lang="en-US" sz="1800" dirty="0"/>
              <a:t>3 × </a:t>
            </a:r>
            <a:r>
              <a:rPr lang="en-US" sz="1800" dirty="0">
                <a:solidFill>
                  <a:srgbClr val="FF0000"/>
                </a:solidFill>
              </a:rPr>
              <a:t>PWM Timers </a:t>
            </a:r>
            <a:r>
              <a:rPr lang="en-US" sz="1800" dirty="0"/>
              <a:t>(PWM_0 / PWM1 / PWM_2)</a:t>
            </a:r>
          </a:p>
          <a:p>
            <a:pPr lvl="2"/>
            <a:r>
              <a:rPr lang="en-US" sz="1800" dirty="0"/>
              <a:t>Generate periodic interrupts for scheduling, timeout, or time measurement</a:t>
            </a:r>
          </a:p>
          <a:p>
            <a:pPr lvl="2"/>
            <a:r>
              <a:rPr lang="en-US" sz="1800" dirty="0"/>
              <a:t>Used for servo control (SG90)</a:t>
            </a:r>
          </a:p>
          <a:p>
            <a:pPr lvl="2"/>
            <a:endParaRPr lang="en-US" sz="1800" dirty="0"/>
          </a:p>
          <a:p>
            <a:r>
              <a:rPr lang="en-US" sz="1800" dirty="0"/>
              <a:t>All 6 timers are the same IP, the difference is purely in how they are used — interrupt source vs. PWM output.</a:t>
            </a:r>
          </a:p>
        </p:txBody>
      </p:sp>
    </p:spTree>
    <p:extLst>
      <p:ext uri="{BB962C8B-B14F-4D97-AF65-F5344CB8AC3E}">
        <p14:creationId xmlns:p14="http://schemas.microsoft.com/office/powerpoint/2010/main" val="147099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29E56-BF30-27CE-8E34-5C6F2909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8B0BE8-BA6E-EBF7-F968-5BE745E8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" dirty="0">
                <a:ea typeface="Calibri"/>
              </a:rPr>
              <a:t>UART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A7C5B4-632A-F870-6437-A7144B26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17</a:t>
            </a:fld>
            <a:endParaRPr lang="zh-TW" altLang="en-US" dirty="0"/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2E66C528-1415-53A7-8C27-FD60D5A66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3991" y="1438662"/>
            <a:ext cx="5773671" cy="5113338"/>
          </a:xfrm>
        </p:spPr>
        <p:txBody>
          <a:bodyPr/>
          <a:lstStyle/>
          <a:p>
            <a:r>
              <a:rPr lang="en-US" sz="2400" dirty="0"/>
              <a:t>2 × AXI UART 16550 Instances:</a:t>
            </a:r>
          </a:p>
          <a:p>
            <a:pPr lvl="1"/>
            <a:r>
              <a:rPr lang="en-US" dirty="0" err="1"/>
              <a:t>uart_USB</a:t>
            </a:r>
            <a:r>
              <a:rPr lang="en-US" dirty="0"/>
              <a:t> — </a:t>
            </a:r>
            <a:r>
              <a:rPr lang="en-US" dirty="0">
                <a:solidFill>
                  <a:srgbClr val="FF0000"/>
                </a:solidFill>
              </a:rPr>
              <a:t>Console / Debug</a:t>
            </a:r>
          </a:p>
          <a:p>
            <a:pPr lvl="2"/>
            <a:r>
              <a:rPr lang="en-US" dirty="0"/>
              <a:t>Connected to on-board USB-UART via Micro-USB (J3)</a:t>
            </a:r>
          </a:p>
          <a:p>
            <a:pPr lvl="2"/>
            <a:r>
              <a:rPr lang="en-US" dirty="0"/>
              <a:t>No DIP pin exposed — accessed through USB cable</a:t>
            </a:r>
          </a:p>
          <a:p>
            <a:pPr lvl="1"/>
            <a:r>
              <a:rPr lang="en-US" dirty="0"/>
              <a:t>uart_1 — </a:t>
            </a:r>
            <a:r>
              <a:rPr lang="en-US" dirty="0">
                <a:solidFill>
                  <a:srgbClr val="FF0000"/>
                </a:solidFill>
              </a:rPr>
              <a:t>External Communication</a:t>
            </a:r>
          </a:p>
          <a:p>
            <a:pPr lvl="2"/>
            <a:r>
              <a:rPr lang="en-US" dirty="0"/>
              <a:t>TX/RX routed to DIP Pin 11 / Pin 12</a:t>
            </a:r>
          </a:p>
          <a:p>
            <a:pPr lvl="2"/>
            <a:r>
              <a:rPr lang="en-US" dirty="0"/>
              <a:t>Available for connecting external devices (sensors, modules, another MCU)</a:t>
            </a:r>
          </a:p>
          <a:p>
            <a:endParaRPr lang="en-US" dirty="0"/>
          </a:p>
        </p:txBody>
      </p:sp>
      <p:sp>
        <p:nvSpPr>
          <p:cNvPr id="3" name="矩形 12">
            <a:extLst>
              <a:ext uri="{FF2B5EF4-FFF2-40B4-BE49-F238E27FC236}">
                <a16:creationId xmlns:a16="http://schemas.microsoft.com/office/drawing/2014/main" id="{D812F7D5-0541-D384-ABBA-ED3800B5533B}"/>
              </a:ext>
            </a:extLst>
          </p:cNvPr>
          <p:cNvSpPr/>
          <p:nvPr/>
        </p:nvSpPr>
        <p:spPr>
          <a:xfrm rot="16200000">
            <a:off x="-1501832" y="3976268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</a:endParaRPr>
          </a:p>
        </p:txBody>
      </p:sp>
      <p:sp>
        <p:nvSpPr>
          <p:cNvPr id="5" name="箭號: 上-下雙向 4">
            <a:extLst>
              <a:ext uri="{FF2B5EF4-FFF2-40B4-BE49-F238E27FC236}">
                <a16:creationId xmlns:a16="http://schemas.microsoft.com/office/drawing/2014/main" id="{FB597642-2B3C-BCCE-ADC9-CD3128F1CD9F}"/>
              </a:ext>
            </a:extLst>
          </p:cNvPr>
          <p:cNvSpPr/>
          <p:nvPr/>
        </p:nvSpPr>
        <p:spPr>
          <a:xfrm rot="16200000">
            <a:off x="1233947" y="2016530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箭號: 上-下雙向 5">
            <a:extLst>
              <a:ext uri="{FF2B5EF4-FFF2-40B4-BE49-F238E27FC236}">
                <a16:creationId xmlns:a16="http://schemas.microsoft.com/office/drawing/2014/main" id="{71409D45-7D34-EA2E-1659-479533685070}"/>
              </a:ext>
            </a:extLst>
          </p:cNvPr>
          <p:cNvSpPr/>
          <p:nvPr/>
        </p:nvSpPr>
        <p:spPr>
          <a:xfrm rot="16200000">
            <a:off x="1233948" y="4995398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: 圓角 23">
            <a:extLst>
              <a:ext uri="{FF2B5EF4-FFF2-40B4-BE49-F238E27FC236}">
                <a16:creationId xmlns:a16="http://schemas.microsoft.com/office/drawing/2014/main" id="{C38CA27E-5239-6530-1B47-492E32803507}"/>
              </a:ext>
            </a:extLst>
          </p:cNvPr>
          <p:cNvSpPr/>
          <p:nvPr/>
        </p:nvSpPr>
        <p:spPr>
          <a:xfrm>
            <a:off x="1999995" y="191983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</a:rPr>
              <a:t>16550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29" name="矩形: 圓角 23">
            <a:extLst>
              <a:ext uri="{FF2B5EF4-FFF2-40B4-BE49-F238E27FC236}">
                <a16:creationId xmlns:a16="http://schemas.microsoft.com/office/drawing/2014/main" id="{127C4605-4523-4681-1E8D-0A6D2C95CCD9}"/>
              </a:ext>
            </a:extLst>
          </p:cNvPr>
          <p:cNvSpPr/>
          <p:nvPr/>
        </p:nvSpPr>
        <p:spPr>
          <a:xfrm>
            <a:off x="1999995" y="49242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30" name="文字方塊 22">
            <a:extLst>
              <a:ext uri="{FF2B5EF4-FFF2-40B4-BE49-F238E27FC236}">
                <a16:creationId xmlns:a16="http://schemas.microsoft.com/office/drawing/2014/main" id="{B28D1C94-B35F-A8BA-0676-98A08DCABCA0}"/>
              </a:ext>
            </a:extLst>
          </p:cNvPr>
          <p:cNvSpPr/>
          <p:nvPr/>
        </p:nvSpPr>
        <p:spPr>
          <a:xfrm>
            <a:off x="3799002" y="2289213"/>
            <a:ext cx="2064989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</a:rPr>
              <a:t>UART_R</a:t>
            </a:r>
            <a:r>
              <a:rPr lang="en-US" sz="1400" spc="-1" dirty="0">
                <a:solidFill>
                  <a:srgbClr val="000000"/>
                </a:solidFill>
              </a:rPr>
              <a:t>X / UART_TX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  <p:cxnSp>
        <p:nvCxnSpPr>
          <p:cNvPr id="31" name="直線單箭頭接點 14">
            <a:extLst>
              <a:ext uri="{FF2B5EF4-FFF2-40B4-BE49-F238E27FC236}">
                <a16:creationId xmlns:a16="http://schemas.microsoft.com/office/drawing/2014/main" id="{878039A3-A8BE-E2DA-F0E5-1A7A642C5694}"/>
              </a:ext>
            </a:extLst>
          </p:cNvPr>
          <p:cNvCxnSpPr>
            <a:cxnSpLocks/>
            <a:stCxn id="29" idx="3"/>
            <a:endCxn id="33" idx="1"/>
          </p:cNvCxnSpPr>
          <p:nvPr/>
        </p:nvCxnSpPr>
        <p:spPr>
          <a:xfrm>
            <a:off x="3209595" y="5446808"/>
            <a:ext cx="599508" cy="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32" name="直線單箭頭接點 14">
            <a:extLst>
              <a:ext uri="{FF2B5EF4-FFF2-40B4-BE49-F238E27FC236}">
                <a16:creationId xmlns:a16="http://schemas.microsoft.com/office/drawing/2014/main" id="{90399C22-AE50-65C3-AC7B-F05491EEB8CC}"/>
              </a:ext>
            </a:extLst>
          </p:cNvPr>
          <p:cNvCxnSpPr>
            <a:cxnSpLocks/>
            <a:stCxn id="7" idx="3"/>
            <a:endCxn id="30" idx="1"/>
          </p:cNvCxnSpPr>
          <p:nvPr/>
        </p:nvCxnSpPr>
        <p:spPr>
          <a:xfrm>
            <a:off x="3209595" y="2442375"/>
            <a:ext cx="589407" cy="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33" name="文字方塊 22">
            <a:extLst>
              <a:ext uri="{FF2B5EF4-FFF2-40B4-BE49-F238E27FC236}">
                <a16:creationId xmlns:a16="http://schemas.microsoft.com/office/drawing/2014/main" id="{9351E04D-D1B8-0D31-5BAA-C3A00B26C80D}"/>
              </a:ext>
            </a:extLst>
          </p:cNvPr>
          <p:cNvSpPr/>
          <p:nvPr/>
        </p:nvSpPr>
        <p:spPr>
          <a:xfrm>
            <a:off x="3809103" y="5293646"/>
            <a:ext cx="11820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spc="-1" dirty="0">
                <a:solidFill>
                  <a:srgbClr val="000000"/>
                </a:solidFill>
              </a:rPr>
              <a:t>USB-UART</a:t>
            </a:r>
            <a:endParaRPr lang="en-US" sz="1400" b="0" strike="noStrike" spc="-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62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24320-931D-0B8F-2B51-A5AEEBB8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13F62-8FAE-FD55-95AA-D9F670A5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XADC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B7968B-40C3-2AE7-53BB-0B55A56D3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XADC — On-chip Analog-to-Digital Converter</a:t>
            </a:r>
          </a:p>
          <a:p>
            <a:pPr lvl="1"/>
            <a:r>
              <a:rPr lang="en-US" sz="2000" dirty="0"/>
              <a:t>Built-in 12-bit ADC inside Artix-7 FPGA</a:t>
            </a:r>
          </a:p>
          <a:p>
            <a:r>
              <a:rPr lang="en-US" sz="2400" dirty="0"/>
              <a:t>Enabled Channels (Continuous Sequencer):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VAUX4 (DIP Pin 15) — external analog input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VAUX12 (DIP Pin 16) — external analog input</a:t>
            </a:r>
          </a:p>
          <a:p>
            <a:pPr lvl="1"/>
            <a:r>
              <a:rPr lang="en-US" sz="2000" dirty="0"/>
              <a:t>Temperature — on-chip die temperature</a:t>
            </a:r>
          </a:p>
          <a:p>
            <a:pPr lvl="1"/>
            <a:r>
              <a:rPr lang="en-US" sz="2000" dirty="0"/>
              <a:t>VCCINT — core voltage monitor (1.0 V)</a:t>
            </a:r>
          </a:p>
          <a:p>
            <a:pPr lvl="1"/>
            <a:r>
              <a:rPr lang="en-US" sz="2000" dirty="0"/>
              <a:t>VCCAUX — auxiliary voltage monitor (1.8 V)</a:t>
            </a:r>
          </a:p>
          <a:p>
            <a:r>
              <a:rPr lang="en-US" sz="2400" dirty="0"/>
              <a:t>Key Specs:</a:t>
            </a:r>
          </a:p>
          <a:p>
            <a:pPr lvl="1"/>
            <a:r>
              <a:rPr lang="en-US" sz="2000" dirty="0"/>
              <a:t>Total conversion rate: 500 Kilo Samples Per Second (KSPS)</a:t>
            </a:r>
          </a:p>
          <a:p>
            <a:pPr lvl="1"/>
            <a:r>
              <a:rPr lang="en-US" sz="2000" dirty="0"/>
              <a:t>Per-channel effective rate: ~100 KSPS (500K ÷ 5 channels)</a:t>
            </a:r>
          </a:p>
          <a:p>
            <a:pPr lvl="1"/>
            <a:r>
              <a:rPr lang="en-US" sz="2000" dirty="0"/>
              <a:t>Input range: 0–1 V at FPGA pins (</a:t>
            </a:r>
            <a:r>
              <a:rPr lang="en-US" sz="2000" dirty="0">
                <a:solidFill>
                  <a:srgbClr val="FF0000"/>
                </a:solidFill>
              </a:rPr>
              <a:t>3.3 V on DIP pin scaled by on-board voltage divider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Resolution: </a:t>
            </a:r>
            <a:r>
              <a:rPr lang="en-US" sz="2000" dirty="0">
                <a:solidFill>
                  <a:srgbClr val="FF0000"/>
                </a:solidFill>
              </a:rPr>
              <a:t>12-bit </a:t>
            </a:r>
            <a:r>
              <a:rPr lang="en-US" sz="2000" dirty="0"/>
              <a:t>(4096 levels)</a:t>
            </a:r>
          </a:p>
          <a:p>
            <a:endParaRPr 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74D78B-0156-9EE1-4D58-8E50690C2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18</a:t>
            </a:fld>
            <a:endParaRPr lang="zh-TW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1EB34-7169-61B3-5D6A-7D7C817F8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9" y="1526482"/>
            <a:ext cx="5343867" cy="293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EC71B1FC-80EF-F883-A39D-4D5BF86A0DFE}"/>
              </a:ext>
            </a:extLst>
          </p:cNvPr>
          <p:cNvCxnSpPr>
            <a:cxnSpLocks/>
          </p:cNvCxnSpPr>
          <p:nvPr/>
        </p:nvCxnSpPr>
        <p:spPr>
          <a:xfrm flipV="1">
            <a:off x="8239539" y="4459586"/>
            <a:ext cx="1170637" cy="13249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91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84AE8A-5624-58A9-615E-C6E2A04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System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4F9EF5-A7F8-306B-F829-676AA660C69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US" smtClean="0"/>
              <a:t>19</a:t>
            </a:fld>
            <a:endParaRPr lang="en-US"/>
          </a:p>
        </p:txBody>
      </p:sp>
      <p:sp>
        <p:nvSpPr>
          <p:cNvPr id="5" name="矩形 12">
            <a:extLst>
              <a:ext uri="{FF2B5EF4-FFF2-40B4-BE49-F238E27FC236}">
                <a16:creationId xmlns:a16="http://schemas.microsoft.com/office/drawing/2014/main" id="{640DE783-884D-7764-F496-1B5DACBC01B0}"/>
              </a:ext>
            </a:extLst>
          </p:cNvPr>
          <p:cNvSpPr/>
          <p:nvPr/>
        </p:nvSpPr>
        <p:spPr>
          <a:xfrm rot="16200000">
            <a:off x="-1692529" y="3954406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矩形: 圓角 7">
            <a:extLst>
              <a:ext uri="{FF2B5EF4-FFF2-40B4-BE49-F238E27FC236}">
                <a16:creationId xmlns:a16="http://schemas.microsoft.com/office/drawing/2014/main" id="{57B9A94B-4B14-EE31-11B0-6399BE35E85C}"/>
              </a:ext>
            </a:extLst>
          </p:cNvPr>
          <p:cNvSpPr/>
          <p:nvPr/>
        </p:nvSpPr>
        <p:spPr>
          <a:xfrm>
            <a:off x="5014344" y="199072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7">
            <a:extLst>
              <a:ext uri="{FF2B5EF4-FFF2-40B4-BE49-F238E27FC236}">
                <a16:creationId xmlns:a16="http://schemas.microsoft.com/office/drawing/2014/main" id="{C9194198-093B-54AD-64A2-6633C7AC4305}"/>
              </a:ext>
            </a:extLst>
          </p:cNvPr>
          <p:cNvSpPr/>
          <p:nvPr/>
        </p:nvSpPr>
        <p:spPr>
          <a:xfrm>
            <a:off x="1591298" y="4519972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Core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24D7A0B-EFA5-1009-3723-C4E2D808AFB5}"/>
              </a:ext>
            </a:extLst>
          </p:cNvPr>
          <p:cNvSpPr/>
          <p:nvPr/>
        </p:nvSpPr>
        <p:spPr>
          <a:xfrm>
            <a:off x="1591298" y="290646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9" name="矩形: 圓角 7">
            <a:extLst>
              <a:ext uri="{FF2B5EF4-FFF2-40B4-BE49-F238E27FC236}">
                <a16:creationId xmlns:a16="http://schemas.microsoft.com/office/drawing/2014/main" id="{A0262D65-BAC5-28C1-827A-6BD784446AF4}"/>
              </a:ext>
            </a:extLst>
          </p:cNvPr>
          <p:cNvSpPr/>
          <p:nvPr/>
        </p:nvSpPr>
        <p:spPr>
          <a:xfrm>
            <a:off x="3334313" y="2906460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矩形: 圓角 7">
            <a:extLst>
              <a:ext uri="{FF2B5EF4-FFF2-40B4-BE49-F238E27FC236}">
                <a16:creationId xmlns:a16="http://schemas.microsoft.com/office/drawing/2014/main" id="{752ACCBD-3E43-6897-9023-DFFB8E92704E}"/>
              </a:ext>
            </a:extLst>
          </p:cNvPr>
          <p:cNvSpPr/>
          <p:nvPr/>
        </p:nvSpPr>
        <p:spPr>
          <a:xfrm>
            <a:off x="5166744" y="214312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矩形: 圓角 7">
            <a:extLst>
              <a:ext uri="{FF2B5EF4-FFF2-40B4-BE49-F238E27FC236}">
                <a16:creationId xmlns:a16="http://schemas.microsoft.com/office/drawing/2014/main" id="{83FFB1D1-61C7-BF56-C90C-9E82518E3DEF}"/>
              </a:ext>
            </a:extLst>
          </p:cNvPr>
          <p:cNvSpPr/>
          <p:nvPr/>
        </p:nvSpPr>
        <p:spPr>
          <a:xfrm>
            <a:off x="5319144" y="229552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矩形: 圓角 7">
            <a:extLst>
              <a:ext uri="{FF2B5EF4-FFF2-40B4-BE49-F238E27FC236}">
                <a16:creationId xmlns:a16="http://schemas.microsoft.com/office/drawing/2014/main" id="{578E5D4B-D7FE-5AEC-0EEC-DB2A50276628}"/>
              </a:ext>
            </a:extLst>
          </p:cNvPr>
          <p:cNvSpPr/>
          <p:nvPr/>
        </p:nvSpPr>
        <p:spPr>
          <a:xfrm>
            <a:off x="5014344" y="3528551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</a:t>
            </a: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GPIO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w intr 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上-下雙向 12">
            <a:extLst>
              <a:ext uri="{FF2B5EF4-FFF2-40B4-BE49-F238E27FC236}">
                <a16:creationId xmlns:a16="http://schemas.microsoft.com/office/drawing/2014/main" id="{6B99B95A-54EB-C171-45FC-4CC5943EF69D}"/>
              </a:ext>
            </a:extLst>
          </p:cNvPr>
          <p:cNvSpPr/>
          <p:nvPr/>
        </p:nvSpPr>
        <p:spPr>
          <a:xfrm rot="16200000">
            <a:off x="890510" y="2977590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上-下雙向 13">
            <a:extLst>
              <a:ext uri="{FF2B5EF4-FFF2-40B4-BE49-F238E27FC236}">
                <a16:creationId xmlns:a16="http://schemas.microsoft.com/office/drawing/2014/main" id="{D1839E77-16A2-0378-F900-24A881E033D3}"/>
              </a:ext>
            </a:extLst>
          </p:cNvPr>
          <p:cNvSpPr/>
          <p:nvPr/>
        </p:nvSpPr>
        <p:spPr>
          <a:xfrm rot="16200000">
            <a:off x="890511" y="4591102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1A5DC29-C0FC-FBA8-C49F-FFD986CF009E}"/>
              </a:ext>
            </a:extLst>
          </p:cNvPr>
          <p:cNvCxnSpPr>
            <a:cxnSpLocks/>
            <a:stCxn id="6" idx="1"/>
            <a:endCxn id="9" idx="3"/>
          </p:cNvCxnSpPr>
          <p:nvPr/>
        </p:nvCxnSpPr>
        <p:spPr>
          <a:xfrm flipH="1">
            <a:off x="4543913" y="2513267"/>
            <a:ext cx="470431" cy="915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5D74019-B39E-5E42-0AA1-E29AA3179CD1}"/>
              </a:ext>
            </a:extLst>
          </p:cNvPr>
          <p:cNvCxnSpPr>
            <a:cxnSpLocks/>
            <a:stCxn id="6" idx="1"/>
            <a:endCxn id="9" idx="3"/>
          </p:cNvCxnSpPr>
          <p:nvPr/>
        </p:nvCxnSpPr>
        <p:spPr>
          <a:xfrm flipH="1">
            <a:off x="4543913" y="2513267"/>
            <a:ext cx="470431" cy="9157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42F8869-F255-E0F6-5A29-4187A397EF8D}"/>
              </a:ext>
            </a:extLst>
          </p:cNvPr>
          <p:cNvCxnSpPr>
            <a:cxnSpLocks/>
            <a:stCxn id="12" idx="1"/>
            <a:endCxn id="9" idx="3"/>
          </p:cNvCxnSpPr>
          <p:nvPr/>
        </p:nvCxnSpPr>
        <p:spPr>
          <a:xfrm flipH="1" flipV="1">
            <a:off x="4543913" y="3429000"/>
            <a:ext cx="470431" cy="6220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2F560EC-CA82-A17E-B491-923D6FEA27E4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2800898" y="3429000"/>
            <a:ext cx="5334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9A90BAAD-F0D9-06A4-5890-8E6585A4C328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2196098" y="3951540"/>
            <a:ext cx="0" cy="568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310EC64-7F2B-D5EF-EBEC-FDF733BC1BAC}"/>
              </a:ext>
            </a:extLst>
          </p:cNvPr>
          <p:cNvSpPr txBox="1"/>
          <p:nvPr/>
        </p:nvSpPr>
        <p:spPr>
          <a:xfrm>
            <a:off x="2257052" y="4051090"/>
            <a:ext cx="44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irq</a:t>
            </a:r>
            <a:endParaRPr lang="en-US" dirty="0"/>
          </a:p>
        </p:txBody>
      </p:sp>
      <p:sp>
        <p:nvSpPr>
          <p:cNvPr id="21" name="矩形: 圓角 23">
            <a:extLst>
              <a:ext uri="{FF2B5EF4-FFF2-40B4-BE49-F238E27FC236}">
                <a16:creationId xmlns:a16="http://schemas.microsoft.com/office/drawing/2014/main" id="{3D4FCA3F-9859-5659-D52D-2E478FB50490}"/>
              </a:ext>
            </a:extLst>
          </p:cNvPr>
          <p:cNvSpPr/>
          <p:nvPr/>
        </p:nvSpPr>
        <p:spPr>
          <a:xfrm>
            <a:off x="5014344" y="476157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矩形: 圓角 23">
            <a:extLst>
              <a:ext uri="{FF2B5EF4-FFF2-40B4-BE49-F238E27FC236}">
                <a16:creationId xmlns:a16="http://schemas.microsoft.com/office/drawing/2014/main" id="{E1481715-C94F-976F-6D80-B5A2936340B8}"/>
              </a:ext>
            </a:extLst>
          </p:cNvPr>
          <p:cNvSpPr/>
          <p:nvPr/>
        </p:nvSpPr>
        <p:spPr>
          <a:xfrm>
            <a:off x="5133535" y="491397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88B98C8B-572A-5575-53E1-722260EB584E}"/>
              </a:ext>
            </a:extLst>
          </p:cNvPr>
          <p:cNvCxnSpPr>
            <a:cxnSpLocks/>
            <a:stCxn id="21" idx="1"/>
            <a:endCxn id="9" idx="3"/>
          </p:cNvCxnSpPr>
          <p:nvPr/>
        </p:nvCxnSpPr>
        <p:spPr>
          <a:xfrm flipH="1" flipV="1">
            <a:off x="4543913" y="3429000"/>
            <a:ext cx="470431" cy="1855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1">
            <a:extLst>
              <a:ext uri="{FF2B5EF4-FFF2-40B4-BE49-F238E27FC236}">
                <a16:creationId xmlns:a16="http://schemas.microsoft.com/office/drawing/2014/main" id="{10590313-5D0E-A4E2-5373-F26302A5F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7935" y="1481032"/>
            <a:ext cx="5663241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handling flow (Normal Mode) 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Peripheral asserts interrupt line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interrupt lines → AXI Interrupt Controller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 Interrupt Controller asserts IRQ → CPU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jumps to fixed ISR entry point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eads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axi_intc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source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Branches to corresponding handler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Handler processes the event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peripheral interrupt first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clear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axi_intc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from ISR, CPU resumes normal execution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051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5EF72-2B32-348A-5BAC-1589A5B92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58BCE8-09C4-1902-EA3D-7B8EA7F50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Overview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E6D8D9-625E-A8B2-6D85-29C0588CC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20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1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AFFE6F-8DBA-7061-5BC7-4F987527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ea typeface="Calibri"/>
              </a:rPr>
              <a:t>Memory Hierarchy</a:t>
            </a:r>
            <a:endParaRPr lang="en-TW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C9A37E-5DF7-F2E5-4038-A385A819522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9856DA5A-CF52-47BD-AC49-21DC5CAD2230}" type="slidenum">
              <a:rPr lang="en-TW" smtClean="0"/>
              <a:t>21</a:t>
            </a:fld>
            <a:endParaRPr lang="en-TW"/>
          </a:p>
        </p:txBody>
      </p:sp>
      <p:sp>
        <p:nvSpPr>
          <p:cNvPr id="3" name="動作按鈕: 說明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B32337C-19B9-3E2D-F004-FE7014D04844}"/>
              </a:ext>
            </a:extLst>
          </p:cNvPr>
          <p:cNvSpPr/>
          <p:nvPr/>
        </p:nvSpPr>
        <p:spPr>
          <a:xfrm>
            <a:off x="2554664" y="2309567"/>
            <a:ext cx="6985262" cy="3167406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0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43978-5BC8-C14A-9A9F-83573E3A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E93B70-F2E5-DAA6-87C4-56B49CF62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Overview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AC3E37-C2E3-5B6E-FDC4-9F676964C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22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946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ea typeface="Calibri"/>
              </a:rPr>
              <a:t>Hardware Report</a:t>
            </a:r>
            <a:endParaRPr lang="en-US" sz="4000" b="0" strike="noStrike" spc="-1" dirty="0">
              <a:solidFill>
                <a:srgbClr val="00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64D29A8-FD95-783A-AD15-F9C499BE2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"/>
          <a:stretch>
            <a:fillRect/>
          </a:stretch>
        </p:blipFill>
        <p:spPr>
          <a:xfrm>
            <a:off x="1171638" y="1466849"/>
            <a:ext cx="4003618" cy="26836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E5BD6BE-DE73-149C-1877-D7A6E9C1D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1466850"/>
            <a:ext cx="5095875" cy="16764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604B8F8-797E-2C2F-ACA8-7C68F608A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3143250"/>
            <a:ext cx="5114925" cy="371475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C0E433F-D3EC-6B12-9EAC-B42CBADB70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38" y="4197644"/>
            <a:ext cx="4003617" cy="266035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AF401A-66FE-F592-9DBE-C400667C377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23</a:t>
            </a:fld>
            <a:endParaRPr lang="en-TW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D5C60-43DF-1C51-6210-6ACC57B41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5079CE-6A94-6151-21AD-15EB6EFFB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Overview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E52A9-4012-8FE7-40E1-A68BDEAA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24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36380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AE03-C579-AA4B-69B3-D1D72D14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軟體, 陳列 的圖片&#10;&#10;AI 產生的內容可能不正確。">
            <a:extLst>
              <a:ext uri="{FF2B5EF4-FFF2-40B4-BE49-F238E27FC236}">
                <a16:creationId xmlns:a16="http://schemas.microsoft.com/office/drawing/2014/main" id="{5CBEF84A-A771-0317-6BEE-0A132B0D9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26" y="1542473"/>
            <a:ext cx="9406348" cy="5315527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EE4AFDB-0585-DC74-0BE3-E5BAFECB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217197"/>
            <a:ext cx="10972080" cy="707886"/>
          </a:xfrm>
        </p:spPr>
        <p:txBody>
          <a:bodyPr/>
          <a:lstStyle/>
          <a:p>
            <a:r>
              <a:rPr lang="en-US" altLang="zh-TW" sz="4000" b="1" spc="-1" dirty="0" err="1">
                <a:solidFill>
                  <a:srgbClr val="DDDDDD"/>
                </a:solidFill>
                <a:ea typeface="Calibri"/>
              </a:rPr>
              <a:t>Ripes</a:t>
            </a: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142F10-24DF-95C6-6B52-BA59C526F4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20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8BF885F3-C385-1956-B801-98996BADBBF2}"/>
              </a:ext>
            </a:extLst>
          </p:cNvPr>
          <p:cNvSpPr txBox="1">
            <a:spLocks/>
          </p:cNvSpPr>
          <p:nvPr/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z="4000" b="1" spc="-1" dirty="0" err="1">
                <a:solidFill>
                  <a:srgbClr val="DDDDDD"/>
                </a:solidFill>
                <a:ea typeface="Calibri"/>
              </a:rPr>
              <a:t>Ripes</a:t>
            </a:r>
            <a:endParaRPr lang="en-US" sz="4000" dirty="0"/>
          </a:p>
        </p:txBody>
      </p:sp>
      <p:pic>
        <p:nvPicPr>
          <p:cNvPr id="9" name="圖片 8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76A925FA-6E34-B744-4808-C88EE86A1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54" y="1563476"/>
            <a:ext cx="9446491" cy="529452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0C2424-FD8F-FEF9-4B77-C809F5A16D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6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939D73-5598-D30F-44C5-210D7B6F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" dirty="0">
                <a:ea typeface="Calibri"/>
              </a:rPr>
              <a:t>Software Design Flow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008730-AAE7-7516-D2AF-FB9195A9D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development approaches: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 Vitis + Embedded SW Libraries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IDE with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BSP auto-generation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drivers for all AXI peripherals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(GPIO, UART, Timer, SPI, EMC) </a:t>
            </a:r>
          </a:p>
          <a:p>
            <a:pPr lvl="2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RISC-V GNU Toolchain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 cross-compiler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(riscv32-unknown-elf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riscv64-unknown-elf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control over linker scripts, startup code, and register-level access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dependency on Xilinx toolchain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1745AA-9BF8-ED6A-ED2C-9F11993F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pPr/>
              <a:t>27</a:t>
            </a:fld>
            <a:endParaRPr lang="zh-TW" altLang="en-US" dirty="0"/>
          </a:p>
        </p:txBody>
      </p:sp>
      <p:pic>
        <p:nvPicPr>
          <p:cNvPr id="5" name="Picture 9" descr="Vitis Embedded (SDK)">
            <a:extLst>
              <a:ext uri="{FF2B5EF4-FFF2-40B4-BE49-F238E27FC236}">
                <a16:creationId xmlns:a16="http://schemas.microsoft.com/office/drawing/2014/main" id="{8302A30B-D786-1605-BEE4-4B6FFFD092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066308" y="2166709"/>
            <a:ext cx="2884394" cy="1433741"/>
          </a:xfrm>
          <a:prstGeom prst="rect">
            <a:avLst/>
          </a:prstGeom>
          <a:ln w="0">
            <a:noFill/>
          </a:ln>
        </p:spPr>
      </p:pic>
      <p:pic>
        <p:nvPicPr>
          <p:cNvPr id="6" name="Picture 2" descr="GitHub - riscv-collab/riscv-gnu-toolchain: GNU toolchain for RISC-V,  including GCC · GitHub">
            <a:extLst>
              <a:ext uri="{FF2B5EF4-FFF2-40B4-BE49-F238E27FC236}">
                <a16:creationId xmlns:a16="http://schemas.microsoft.com/office/drawing/2014/main" id="{816F0971-5BE9-2F7F-4563-0CAD6091B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755" y="4402107"/>
            <a:ext cx="3632947" cy="181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652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CDC7642-BBA5-DB9C-286B-2338647CF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31" y="1388187"/>
            <a:ext cx="4890969" cy="449697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CA686B1-C7BC-D609-604E-D3646F4F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108000"/>
            <a:ext cx="10972800" cy="70788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XSDB (Xilinx System Debugger)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30B7BF-166D-8069-BD04-DDF1638A2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5" y="1482725"/>
            <a:ext cx="11254061" cy="5113338"/>
          </a:xfrm>
        </p:spPr>
        <p:txBody>
          <a:bodyPr/>
          <a:lstStyle/>
          <a:p>
            <a:r>
              <a:rPr lang="en-US" sz="2400" dirty="0"/>
              <a:t>XSDB (Xilinx System Debugger)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Command-line debug interface over JTAG</a:t>
            </a:r>
          </a:p>
          <a:p>
            <a:pPr lvl="1"/>
            <a:r>
              <a:rPr lang="en-US" sz="2000" dirty="0"/>
              <a:t>Connects to </a:t>
            </a:r>
            <a:r>
              <a:rPr lang="en-US" sz="2000" dirty="0" err="1"/>
              <a:t>MicroBlaze</a:t>
            </a:r>
            <a:r>
              <a:rPr lang="en-US" sz="2000" dirty="0"/>
              <a:t> via MDM (</a:t>
            </a:r>
            <a:r>
              <a:rPr lang="en-US" sz="2000" dirty="0" err="1"/>
              <a:t>MicroBlaze</a:t>
            </a:r>
            <a:r>
              <a:rPr lang="en-US" sz="2000" dirty="0"/>
              <a:t> Debug Module)</a:t>
            </a:r>
          </a:p>
          <a:p>
            <a:pPr lvl="1"/>
            <a:r>
              <a:rPr lang="en-US" sz="2000" dirty="0"/>
              <a:t>Capabilities: </a:t>
            </a:r>
          </a:p>
          <a:p>
            <a:pPr lvl="2"/>
            <a:r>
              <a:rPr lang="en-US" sz="1800" dirty="0">
                <a:solidFill>
                  <a:srgbClr val="FF0000"/>
                </a:solidFill>
              </a:rPr>
              <a:t>Download ELF directly to BRAM/SRAM/</a:t>
            </a:r>
            <a:r>
              <a:rPr lang="en-US" altLang="zh-TW" sz="1800" dirty="0">
                <a:solidFill>
                  <a:srgbClr val="FF0000"/>
                </a:solidFill>
              </a:rPr>
              <a:t>Flash</a:t>
            </a:r>
            <a:r>
              <a:rPr lang="en-US" sz="1800" dirty="0">
                <a:solidFill>
                  <a:srgbClr val="FF0000"/>
                </a:solidFill>
              </a:rPr>
              <a:t> — no Flash needed</a:t>
            </a:r>
          </a:p>
          <a:p>
            <a:pPr lvl="2"/>
            <a:r>
              <a:rPr lang="en-US" sz="1800" dirty="0"/>
              <a:t>Halt, step, and resume CPU execution</a:t>
            </a:r>
          </a:p>
          <a:p>
            <a:pPr lvl="2"/>
            <a:r>
              <a:rPr lang="en-US" sz="1800" dirty="0"/>
              <a:t>Read/write memory and registers in real time</a:t>
            </a:r>
          </a:p>
          <a:p>
            <a:pPr lvl="2"/>
            <a:r>
              <a:rPr lang="en-US" sz="1800" dirty="0"/>
              <a:t>Enables rapid code-test-fix cycles during development</a:t>
            </a:r>
          </a:p>
          <a:p>
            <a:pPr lvl="2"/>
            <a:r>
              <a:rPr lang="en-US" sz="1800" dirty="0"/>
              <a:t>No bootloader required </a:t>
            </a:r>
          </a:p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823FCD-DB9C-BFC9-5EF2-323FCA40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pPr/>
              <a:t>28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9302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769B-96D5-FB86-647F-9E84199D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AFB584-589A-4323-19D7-1DC80633D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Overview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7D01D4-C40B-FE2A-564A-D957653C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29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4785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118F95-AB11-90E6-5887-36D02D25B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JTAG Debug Flow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1F3C59-C14C-BE1C-0C26-DCE3E021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pPr/>
              <a:t>30</a:t>
            </a:fld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3259AF1-3907-D91A-3E8D-2EE84575FFD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34963" y="1482725"/>
            <a:ext cx="11615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2"/>
              </a:rPr>
              <a:t>RISC-V-MCU-on-Cmod-A7/Vitis-Software-Dev-Guide/JTAG-Debug-Mode/JTAG-Debug-Mode.md at main · ukp66482/RISC-V-MCU-on-Cmod-A7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97043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DE758-6AE4-6654-C2BB-DDED32CBB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898657-CAF6-5C81-2893-AACE2D6BF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Overview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>
              <a:spcBef>
                <a:spcPts val="1200"/>
              </a:spcBef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DA860F-AA32-0CC6-DFEA-B152567F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31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094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ea typeface="Calibri"/>
              </a:rPr>
              <a:t>Standalone Boot Sequence</a:t>
            </a:r>
            <a:endParaRPr lang="en-US" sz="4000" b="0" strike="noStrike" spc="-1" dirty="0">
              <a:solidFill>
                <a:srgbClr val="000000"/>
              </a:solidFill>
            </a:endParaRPr>
          </a:p>
        </p:txBody>
      </p:sp>
      <p:sp>
        <p:nvSpPr>
          <p:cNvPr id="131" name="AutoShape 3"/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" name="動作按鈕: 說明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3DCC72-29F7-D867-D27E-E276AEB886E7}"/>
              </a:ext>
            </a:extLst>
          </p:cNvPr>
          <p:cNvSpPr/>
          <p:nvPr/>
        </p:nvSpPr>
        <p:spPr>
          <a:xfrm>
            <a:off x="2554664" y="2309567"/>
            <a:ext cx="6985262" cy="3167406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28BB30-CB0B-8427-25AF-A0CA255B402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32</a:t>
            </a:fld>
            <a:endParaRPr lang="en-TW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2A2B7-B1B2-C299-ED8F-80797224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72746-841A-E49C-B806-C9C1ABC3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Issue to Address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F9F7C0-3669-DD43-D76D-66F562892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Interrupt (GPIO / Timer) </a:t>
            </a:r>
          </a:p>
          <a:p>
            <a:r>
              <a:rPr lang="en-US" sz="2400" dirty="0"/>
              <a:t>GPIO input </a:t>
            </a:r>
          </a:p>
          <a:p>
            <a:r>
              <a:rPr lang="en-US" sz="2400" dirty="0" err="1"/>
              <a:t>uart</a:t>
            </a:r>
            <a:r>
              <a:rPr lang="en-US" sz="2400" dirty="0"/>
              <a:t> 16550 Baud Rate </a:t>
            </a:r>
            <a:r>
              <a:rPr lang="zh-TW" altLang="en-US" sz="2400" dirty="0"/>
              <a:t>更改</a:t>
            </a:r>
            <a:endParaRPr lang="en-US" altLang="zh-TW" sz="2400" dirty="0"/>
          </a:p>
          <a:p>
            <a:r>
              <a:rPr lang="zh-TW" altLang="en-US" sz="2400" dirty="0"/>
              <a:t> </a:t>
            </a:r>
            <a:r>
              <a:rPr lang="en-US" sz="2400" dirty="0"/>
              <a:t>XADC </a:t>
            </a:r>
            <a:r>
              <a:rPr lang="zh-TW" altLang="en-US" sz="2400" dirty="0"/>
              <a:t>五個</a:t>
            </a:r>
            <a:r>
              <a:rPr lang="en-US" sz="2400" dirty="0"/>
              <a:t>channel</a:t>
            </a:r>
            <a:r>
              <a:rPr lang="zh-TW" altLang="en-US" sz="2400" dirty="0"/>
              <a:t>讀值 </a:t>
            </a:r>
            <a:endParaRPr lang="en-US" altLang="zh-TW" sz="2400" dirty="0"/>
          </a:p>
          <a:p>
            <a:r>
              <a:rPr lang="en-US" sz="2400" dirty="0"/>
              <a:t>QSPI </a:t>
            </a:r>
            <a:r>
              <a:rPr lang="zh-TW" altLang="en-US" sz="2400" dirty="0"/>
              <a:t>內建 </a:t>
            </a:r>
            <a:r>
              <a:rPr lang="en-US" sz="2400" dirty="0"/>
              <a:t>Bitstream </a:t>
            </a:r>
          </a:p>
          <a:p>
            <a:r>
              <a:rPr lang="en-US" sz="2400" dirty="0"/>
              <a:t>EMC SRAM </a:t>
            </a:r>
            <a:r>
              <a:rPr lang="zh-TW" altLang="en-US" sz="2400" dirty="0"/>
              <a:t>使用 </a:t>
            </a:r>
            <a:endParaRPr lang="en-US" altLang="zh-TW" sz="2400" dirty="0"/>
          </a:p>
          <a:p>
            <a:r>
              <a:rPr lang="en-US" sz="2400" dirty="0"/>
              <a:t>Memory Hier </a:t>
            </a:r>
            <a:r>
              <a:rPr lang="zh-TW" altLang="en-US" sz="2400" dirty="0"/>
              <a:t>設計 </a:t>
            </a:r>
            <a:endParaRPr lang="en-US" altLang="zh-TW" sz="2400" dirty="0"/>
          </a:p>
          <a:p>
            <a:r>
              <a:rPr lang="en-US" sz="2400" dirty="0"/>
              <a:t>Standalone Boot Sequence</a:t>
            </a:r>
            <a:r>
              <a:rPr lang="zh-TW" altLang="en-US" sz="2400" dirty="0"/>
              <a:t>流程</a:t>
            </a:r>
            <a:endParaRPr 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1A5182-FBC1-36B3-FF13-8EE30766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9ED32-46C6-469E-9D81-E8934DBD0961}" type="slidenum">
              <a:rPr lang="zh-TW" altLang="en-US" smtClean="0"/>
              <a:t>33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580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NCKU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CKU" id="{1E584FE3-EC3C-4BC7-B6FE-D3F2C8DC7160}" vid="{911B48B0-2E8C-4C50-97C8-C7CE263FDF5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1506</Words>
  <Application>Microsoft Office PowerPoint</Application>
  <PresentationFormat>寬螢幕</PresentationFormat>
  <Paragraphs>367</Paragraphs>
  <Slides>33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9" baseType="lpstr">
      <vt:lpstr>Angsana New</vt:lpstr>
      <vt:lpstr>Arial</vt:lpstr>
      <vt:lpstr>Calibri</vt:lpstr>
      <vt:lpstr>Cambria Math</vt:lpstr>
      <vt:lpstr>Times New Roman</vt:lpstr>
      <vt:lpstr>NCKU</vt:lpstr>
      <vt:lpstr>RISC-V Microcontroller On Cmod-A7-35T</vt:lpstr>
      <vt:lpstr>Outline</vt:lpstr>
      <vt:lpstr>PowerPoint 簡報</vt:lpstr>
      <vt:lpstr>FPGA Selection and Spec</vt:lpstr>
      <vt:lpstr>FPGA Selection and Spec</vt:lpstr>
      <vt:lpstr>FPGA Selection and Spec</vt:lpstr>
      <vt:lpstr>PowerPoint 簡報</vt:lpstr>
      <vt:lpstr>Microcontroller Overview</vt:lpstr>
      <vt:lpstr>Instruction Path vs Data Path</vt:lpstr>
      <vt:lpstr>Instruction Network / Data Network</vt:lpstr>
      <vt:lpstr>Memory-Mapped I/O vs SFR</vt:lpstr>
      <vt:lpstr>AXI Mapping</vt:lpstr>
      <vt:lpstr>Microcontroller Overview </vt:lpstr>
      <vt:lpstr>PowerPoint 簡報</vt:lpstr>
      <vt:lpstr>GPIO</vt:lpstr>
      <vt:lpstr>Timer &amp; PWM</vt:lpstr>
      <vt:lpstr>UART</vt:lpstr>
      <vt:lpstr>XADC</vt:lpstr>
      <vt:lpstr>Interrupt System</vt:lpstr>
      <vt:lpstr>PowerPoint 簡報</vt:lpstr>
      <vt:lpstr>Memory Hierarchy</vt:lpstr>
      <vt:lpstr>PowerPoint 簡報</vt:lpstr>
      <vt:lpstr>Hardware Report</vt:lpstr>
      <vt:lpstr>PowerPoint 簡報</vt:lpstr>
      <vt:lpstr>Ripes</vt:lpstr>
      <vt:lpstr>PowerPoint 簡報</vt:lpstr>
      <vt:lpstr>Software Design Flow</vt:lpstr>
      <vt:lpstr>XSDB (Xilinx System Debugger)</vt:lpstr>
      <vt:lpstr>PowerPoint 簡報</vt:lpstr>
      <vt:lpstr>JTAG Debug Flow</vt:lpstr>
      <vt:lpstr>PowerPoint 簡報</vt:lpstr>
      <vt:lpstr>Standalone Boot Sequence</vt:lpstr>
      <vt:lpstr>Issue to Address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 Rate Conversion</dc:title>
  <dc:creator>moksas</dc:creator>
  <cp:lastModifiedBy>黃偉峰 HUANG, WEI-FENG</cp:lastModifiedBy>
  <cp:revision>571</cp:revision>
  <cp:lastPrinted>2025-07-25T03:02:42Z</cp:lastPrinted>
  <dcterms:created xsi:type="dcterms:W3CDTF">2017-03-13T07:34:40Z</dcterms:created>
  <dcterms:modified xsi:type="dcterms:W3CDTF">2026-04-14T10:36:18Z</dcterms:modified>
</cp:coreProperties>
</file>
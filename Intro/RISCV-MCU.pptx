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0.jpeg" ContentType="image/jpeg"/>
  <Override PartName="/ppt/media/image9.png" ContentType="image/png"/>
  <Override PartName="/ppt/media/image18.png" ContentType="image/png"/>
  <Override PartName="/ppt/media/image20.png" ContentType="image/png"/>
  <Override PartName="/ppt/media/image13.png" ContentType="image/png"/>
  <Override PartName="/ppt/media/image4.png" ContentType="image/png"/>
  <Override PartName="/ppt/media/image11.jpeg" ContentType="image/jpeg"/>
  <Override PartName="/ppt/media/image21.png" ContentType="image/png"/>
  <Override PartName="/ppt/media/image19.png" ContentType="image/png"/>
  <Override PartName="/ppt/media/image2.png" ContentType="image/png"/>
  <Override PartName="/ppt/media/image1.png" ContentType="image/png"/>
  <Override PartName="/ppt/media/image5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16.png" ContentType="image/png"/>
  <Override PartName="/ppt/media/image7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200" spc="-1" strike="noStrike">
                <a:solidFill>
                  <a:schemeClr val="dk1"/>
                </a:solidFill>
                <a:latin typeface="Calibri"/>
                <a:ea typeface="Calibri"/>
              </a:rPr>
              <a:t>老師，各位同學好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5BB153-1C47-43CE-8548-5E70074E0DD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DEB67E-000B-45BB-BE23-757051F1F6CF}" type="slidenum">
              <a:rPr b="0" lang="en-US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CA2718-3768-4361-88EA-3AF398B51831}" type="slidenum">
              <a:rPr b="0" lang="en-US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29B73A7-A7DC-412C-96B5-10FF7391FC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9856DA5A-CF52-47BD-AC49-21DC5CAD22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E7A655E-BA10-45EB-B439-1EA08694B5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8213D05B-FB84-4633-9C9A-120521AE31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8632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4D52DAE0-7E1F-47D1-9074-2A72228EBB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EA6B1832-4525-49F4-BECE-BB125EA60F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C597E3EE-548C-4723-B409-01695788DA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EA9670E-C16E-42E9-A125-B8BEB16472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EC9CDAFB-8308-4D77-BAD6-5A6D8577A4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16774CDD-D255-4571-A23A-6C752D253C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1" name="Google Shape;17;p16" descr="7"/>
          <p:cNvPicPr/>
          <p:nvPr/>
        </p:nvPicPr>
        <p:blipFill>
          <a:blip r:embed="rId3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4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ftr" idx="3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A6E7F9-EFDC-4183-8329-99F8DAAA396E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5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ftr" idx="6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7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D7E20C-AB3C-40DA-ABAE-309E590DD45F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8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51F372-F396-4EE6-B42B-32E3712AEE90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ftr" idx="12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13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BA9D5F-2332-4B87-B30D-F4375F4595FA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4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8668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15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16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793562-07C8-4769-A52D-574B53D31BD0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7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8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9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734889-943C-42D0-93AB-AC837AF29C8C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0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1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2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4DDFF8-CEFB-44E6-B41E-DA3786F44A2C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3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24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25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D17E14-7FC7-4BF2-8F95-E143412ED8FF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6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ftr" idx="27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8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B93862-F8E6-46BE-AC4A-9802151FCCE2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9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10;p15" descr="6"/>
          <p:cNvPicPr/>
          <p:nvPr/>
        </p:nvPicPr>
        <p:blipFill>
          <a:blip r:embed="rId2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ftr" idx="30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31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1" lang="en-US" sz="1400" spc="-1" strike="noStrike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BB08C5-53A2-4AAC-BA76-554DF1EE9073}" type="slidenum">
              <a:rPr b="1" lang="en-US" sz="1400" spc="-1" strike="noStrike">
                <a:solidFill>
                  <a:srgbClr val="0033cc"/>
                </a:solidFill>
                <a:latin typeface="Calibri"/>
                <a:ea typeface="Calibri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2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Our Microcontroller (temporary)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225240" y="307728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99120" y="3077280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7086600" y="3051360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AXI GPIO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7513560" y="53557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矩形: 圓角 9"/>
          <p:cNvSpPr/>
          <p:nvPr/>
        </p:nvSpPr>
        <p:spPr>
          <a:xfrm>
            <a:off x="2732400" y="5358960"/>
            <a:ext cx="1310400" cy="89136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AXI</a:t>
            </a:r>
            <a:br>
              <a:rPr sz="1400"/>
            </a:b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Interrupt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Controller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直線單箭頭接點 11"/>
          <p:cNvCxnSpPr>
            <a:stCxn id="71" idx="3"/>
            <a:endCxn id="70" idx="1"/>
          </p:cNvCxnSpPr>
          <p:nvPr/>
        </p:nvCxnSpPr>
        <p:spPr>
          <a:xfrm>
            <a:off x="2662920" y="3484800"/>
            <a:ext cx="562680" cy="36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76" name="矩形 12"/>
          <p:cNvSpPr/>
          <p:nvPr/>
        </p:nvSpPr>
        <p:spPr>
          <a:xfrm>
            <a:off x="1155600" y="4496400"/>
            <a:ext cx="10386720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/>
          <p:nvPr/>
        </p:nvCxnSpPr>
        <p:spPr>
          <a:xfrm flipV="1">
            <a:off x="7543440" y="2509920"/>
            <a:ext cx="720" cy="54180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78" name="直線單箭頭接點 15"/>
          <p:cNvCxnSpPr/>
          <p:nvPr/>
        </p:nvCxnSpPr>
        <p:spPr>
          <a:xfrm flipV="1">
            <a:off x="10287000" y="2509920"/>
            <a:ext cx="720" cy="54180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79" name="箭號: 向下 18"/>
          <p:cNvSpPr/>
          <p:nvPr/>
        </p:nvSpPr>
        <p:spPr>
          <a:xfrm>
            <a:off x="3786480" y="3970080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0" name="箭號: 向下 19"/>
          <p:cNvSpPr/>
          <p:nvPr/>
        </p:nvSpPr>
        <p:spPr>
          <a:xfrm rot="10800000">
            <a:off x="3263760" y="4798800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1" name="箭號: 向下 20"/>
          <p:cNvSpPr/>
          <p:nvPr/>
        </p:nvSpPr>
        <p:spPr>
          <a:xfrm rot="10800000">
            <a:off x="7994880" y="4819680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2" name="箭號: 向下 21"/>
          <p:cNvSpPr/>
          <p:nvPr/>
        </p:nvSpPr>
        <p:spPr>
          <a:xfrm>
            <a:off x="8708040" y="3944160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3" name="文字方塊 22"/>
          <p:cNvSpPr/>
          <p:nvPr/>
        </p:nvSpPr>
        <p:spPr>
          <a:xfrm>
            <a:off x="6856560" y="1571040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5148000" y="535572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AXI UART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箭號: 向下 24"/>
          <p:cNvSpPr/>
          <p:nvPr/>
        </p:nvSpPr>
        <p:spPr>
          <a:xfrm rot="10800000">
            <a:off x="5629320" y="4819680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28600" y="3398040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直線單箭頭接點 32"/>
          <p:cNvCxnSpPr/>
          <p:nvPr/>
        </p:nvCxnSpPr>
        <p:spPr>
          <a:xfrm flipV="1">
            <a:off x="951120" y="3397680"/>
            <a:ext cx="648720" cy="828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cxnSp>
        <p:nvCxnSpPr>
          <p:cNvPr id="88" name="直線單箭頭接點 33"/>
          <p:cNvCxnSpPr/>
          <p:nvPr/>
        </p:nvCxnSpPr>
        <p:spPr>
          <a:xfrm flipH="1">
            <a:off x="951120" y="3613320"/>
            <a:ext cx="648720" cy="72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89" name="矩形: 圓角 40"/>
          <p:cNvSpPr/>
          <p:nvPr/>
        </p:nvSpPr>
        <p:spPr>
          <a:xfrm>
            <a:off x="3225240" y="193176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84480" y="2746800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91" name="矩形: 圓角 44"/>
          <p:cNvSpPr/>
          <p:nvPr/>
        </p:nvSpPr>
        <p:spPr>
          <a:xfrm>
            <a:off x="1384200" y="193284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Data Mem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128KB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矩形: 圓角 45"/>
          <p:cNvSpPr/>
          <p:nvPr/>
        </p:nvSpPr>
        <p:spPr>
          <a:xfrm>
            <a:off x="5079240" y="193176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Inst MEM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64KB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直線單箭頭接點 48"/>
          <p:cNvCxnSpPr>
            <a:stCxn id="92" idx="1"/>
            <a:endCxn id="89" idx="3"/>
          </p:cNvCxnSpPr>
          <p:nvPr/>
        </p:nvCxnSpPr>
        <p:spPr>
          <a:xfrm flipH="1">
            <a:off x="4744080" y="2339280"/>
            <a:ext cx="335520" cy="36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903040" y="2339280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95" name="文字方塊 2"/>
          <p:cNvSpPr/>
          <p:nvPr/>
        </p:nvSpPr>
        <p:spPr>
          <a:xfrm>
            <a:off x="8913960" y="5640480"/>
            <a:ext cx="3659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GPIO_A0 ~ GPIO_D6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Block Design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圖片 4" descr="一張含有 文字, 圖表, 方案, 工程製圖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1518120" y="1610280"/>
            <a:ext cx="9155160" cy="524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Memory-Mapped I/O vs SFR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Times New Roman"/>
              </a:rPr>
              <a:t>Memory-Mapped I/O (MMIO):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400" spc="-1" strike="noStrike">
                <a:solidFill>
                  <a:srgbClr val="ff0000"/>
                </a:solidFill>
                <a:latin typeface="Arial"/>
                <a:ea typeface="Times New Roman"/>
              </a:rPr>
              <a:t>Peripherals are mapped into the memory address space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Accessed using normal load/store instructions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Easy to integrate and extend (add new devices by assigning new addresses)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Times New Roman"/>
              </a:rPr>
              <a:t>SFR (Special Function Registers) in traditional MCUs (e.g., PIC):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ff0000"/>
                </a:solidFill>
                <a:latin typeface="Arial"/>
                <a:ea typeface="Times New Roman"/>
              </a:rPr>
              <a:t>Peripheral control uses dedicated special registers</a:t>
            </a:r>
            <a:r>
              <a:rPr b="0" lang="en-US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Often requires bank selection / bit-level control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rial"/>
                <a:ea typeface="Times New Roman"/>
              </a:rPr>
              <a:t>Less flexible when scaling to more peripherals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Memory Map in our microcontroller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圖片 4" descr="一張含有 文字, 螢幕擷取畫面, 數字, 字型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957240" y="1497960"/>
            <a:ext cx="6166440" cy="2619360"/>
          </a:xfrm>
          <a:prstGeom prst="rect">
            <a:avLst/>
          </a:prstGeom>
          <a:ln w="0">
            <a:noFill/>
          </a:ln>
        </p:spPr>
      </p:pic>
      <p:pic>
        <p:nvPicPr>
          <p:cNvPr id="102" name="圖片 6" descr="一張含有 文字, 螢幕擷取畫面, 字型, 數字 的圖片&#10;&#10;AI 產生的內容可能不正確。"/>
          <p:cNvPicPr/>
          <p:nvPr/>
        </p:nvPicPr>
        <p:blipFill>
          <a:blip r:embed="rId2"/>
          <a:stretch/>
        </p:blipFill>
        <p:spPr>
          <a:xfrm>
            <a:off x="957240" y="4545360"/>
            <a:ext cx="6166440" cy="2134800"/>
          </a:xfrm>
          <a:prstGeom prst="rect">
            <a:avLst/>
          </a:prstGeom>
          <a:ln w="0">
            <a:noFill/>
          </a:ln>
        </p:spPr>
      </p:pic>
      <p:sp>
        <p:nvSpPr>
          <p:cNvPr id="103" name="文字方塊 8"/>
          <p:cNvSpPr/>
          <p:nvPr/>
        </p:nvSpPr>
        <p:spPr>
          <a:xfrm>
            <a:off x="7584840" y="1980000"/>
            <a:ext cx="4403160" cy="25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Each mapped IP provides its own datasheet / product guide.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The document specifies the internal register map (offsets from the base address) and explains how to use each register for configuration and I/O control.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Memory Architecture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矩形: 圓角 3"/>
          <p:cNvSpPr/>
          <p:nvPr/>
        </p:nvSpPr>
        <p:spPr>
          <a:xfrm>
            <a:off x="2856960" y="375876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矩形: 圓角 4"/>
          <p:cNvSpPr/>
          <p:nvPr/>
        </p:nvSpPr>
        <p:spPr>
          <a:xfrm>
            <a:off x="2856960" y="261324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7" name="直線單箭頭接點 5"/>
          <p:cNvCxnSpPr>
            <a:stCxn id="106" idx="2"/>
            <a:endCxn id="105" idx="0"/>
          </p:cNvCxnSpPr>
          <p:nvPr/>
        </p:nvCxnSpPr>
        <p:spPr>
          <a:xfrm>
            <a:off x="3616200" y="3428280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108" name="矩形: 圓角 6"/>
          <p:cNvSpPr/>
          <p:nvPr/>
        </p:nvSpPr>
        <p:spPr>
          <a:xfrm>
            <a:off x="1015920" y="261468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Data Mem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矩形: 圓角 7"/>
          <p:cNvSpPr/>
          <p:nvPr/>
        </p:nvSpPr>
        <p:spPr>
          <a:xfrm>
            <a:off x="4710960" y="2613240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Inst MEM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0" name="直線單箭頭接點 8"/>
          <p:cNvCxnSpPr>
            <a:stCxn id="109" idx="1"/>
            <a:endCxn id="106" idx="3"/>
          </p:cNvCxnSpPr>
          <p:nvPr/>
        </p:nvCxnSpPr>
        <p:spPr>
          <a:xfrm flipH="1">
            <a:off x="4375800" y="3020760"/>
            <a:ext cx="335520" cy="36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111" name="直線單箭頭接點 9"/>
          <p:cNvCxnSpPr>
            <a:stCxn id="108" idx="3"/>
            <a:endCxn id="106" idx="1"/>
          </p:cNvCxnSpPr>
          <p:nvPr/>
        </p:nvCxnSpPr>
        <p:spPr>
          <a:xfrm flipV="1">
            <a:off x="2534760" y="3020760"/>
            <a:ext cx="322560" cy="18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</p:cxnSp>
      <p:sp>
        <p:nvSpPr>
          <p:cNvPr id="112" name="文字方塊 10"/>
          <p:cNvSpPr/>
          <p:nvPr/>
        </p:nvSpPr>
        <p:spPr>
          <a:xfrm>
            <a:off x="930240" y="1650960"/>
            <a:ext cx="753300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CPU internal (MicroBlaze core):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MicroBlaze uses a </a:t>
            </a:r>
            <a:r>
              <a:rPr b="0" lang="en-US" sz="1400" spc="-1" strike="noStrike">
                <a:solidFill>
                  <a:srgbClr val="ff0000"/>
                </a:solidFill>
                <a:latin typeface="Arial"/>
                <a:ea typeface="Arial"/>
              </a:rPr>
              <a:t>Harvard-style internal structure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with separate instruction and data paths.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文字方塊 11"/>
          <p:cNvSpPr/>
          <p:nvPr/>
        </p:nvSpPr>
        <p:spPr>
          <a:xfrm>
            <a:off x="930240" y="4899240"/>
            <a:ext cx="7533000" cy="10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SOC Level: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The overall system looks more like a </a:t>
            </a:r>
            <a:r>
              <a:rPr b="1" lang="en-US" sz="1400" spc="-1" strike="noStrike">
                <a:solidFill>
                  <a:srgbClr val="ff0000"/>
                </a:solidFill>
                <a:latin typeface="Arial"/>
                <a:ea typeface="Arial"/>
              </a:rPr>
              <a:t>von Neumann model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because both instructions and data are placed in a </a:t>
            </a: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single unified memory address space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when accessing external memory and memory-mapped peripherals.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4" name="直線單箭頭接點 13"/>
          <p:cNvCxnSpPr>
            <a:stCxn id="112" idx="3"/>
            <a:endCxn id="115" idx="1"/>
          </p:cNvCxnSpPr>
          <p:nvPr/>
        </p:nvCxnSpPr>
        <p:spPr>
          <a:xfrm>
            <a:off x="8463240" y="1954800"/>
            <a:ext cx="1008720" cy="1953000"/>
          </a:xfrm>
          <a:prstGeom prst="straightConnector1">
            <a:avLst/>
          </a:prstGeom>
          <a:ln w="19050">
            <a:solidFill>
              <a:srgbClr val="ff0000"/>
            </a:solidFill>
            <a:round/>
            <a:tailEnd len="med" type="triangle" w="med"/>
          </a:ln>
        </p:spPr>
      </p:cxnSp>
      <p:cxnSp>
        <p:nvCxnSpPr>
          <p:cNvPr id="116" name="直線單箭頭接點 15"/>
          <p:cNvCxnSpPr>
            <a:stCxn id="113" idx="3"/>
            <a:endCxn id="115" idx="1"/>
          </p:cNvCxnSpPr>
          <p:nvPr/>
        </p:nvCxnSpPr>
        <p:spPr>
          <a:xfrm flipV="1">
            <a:off x="8463240" y="3907440"/>
            <a:ext cx="1008720" cy="1509480"/>
          </a:xfrm>
          <a:prstGeom prst="straightConnector1">
            <a:avLst/>
          </a:prstGeom>
          <a:ln w="19050">
            <a:solidFill>
              <a:srgbClr val="ff0000"/>
            </a:solidFill>
            <a:round/>
            <a:tailEnd len="med" type="triangle" w="med"/>
          </a:ln>
        </p:spPr>
      </p:cxnSp>
      <p:sp>
        <p:nvSpPr>
          <p:cNvPr id="115" name="文字方塊 16"/>
          <p:cNvSpPr/>
          <p:nvPr/>
        </p:nvSpPr>
        <p:spPr>
          <a:xfrm>
            <a:off x="9471600" y="3497040"/>
            <a:ext cx="2719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ff0000"/>
                </a:solidFill>
                <a:latin typeface="Arial"/>
                <a:ea typeface="Arial"/>
              </a:rPr>
              <a:t>Modified Harvard Architecture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AXI Mapping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5760360" cy="51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Although each peripheral is mapped to a memory address range, </a:t>
            </a:r>
            <a:r>
              <a:rPr b="0" lang="en-US" sz="28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this address region does not correspond to physical RAM</a:t>
            </a: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.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Instead, AXI address decoding and </a:t>
            </a:r>
            <a:r>
              <a:rPr b="0" lang="en-US" sz="28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routing logic forwards</a:t>
            </a: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 these transactions to the target peripheral’s register interface (MMIO).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圖片 5" descr="一張含有 文字, 圖表, 螢幕擷取畫面, 平行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6502320" y="1906200"/>
            <a:ext cx="5640120" cy="383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Resource Utilization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" name="圖片 4" descr="一張含有 文字, 螢幕擷取畫面, 數字, 字型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2864880" y="1569600"/>
            <a:ext cx="6462000" cy="1995480"/>
          </a:xfrm>
          <a:prstGeom prst="rect">
            <a:avLst/>
          </a:prstGeom>
          <a:ln w="0">
            <a:noFill/>
          </a:ln>
        </p:spPr>
      </p:pic>
      <p:sp>
        <p:nvSpPr>
          <p:cNvPr id="122" name="矩形 8"/>
          <p:cNvSpPr/>
          <p:nvPr/>
        </p:nvSpPr>
        <p:spPr>
          <a:xfrm>
            <a:off x="4532400" y="1874880"/>
            <a:ext cx="1562760" cy="1479600"/>
          </a:xfrm>
          <a:prstGeom prst="rect">
            <a:avLst/>
          </a:prstGeom>
          <a:noFill/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pic>
        <p:nvPicPr>
          <p:cNvPr id="123" name="圖片 10" descr="一張含有 文字, 螢幕擷取畫面, 字型, 數字 的圖片&#10;&#10;AI 產生的內容可能不正確。"/>
          <p:cNvPicPr/>
          <p:nvPr/>
        </p:nvPicPr>
        <p:blipFill>
          <a:blip r:embed="rId2"/>
          <a:stretch/>
        </p:blipFill>
        <p:spPr>
          <a:xfrm>
            <a:off x="2315520" y="3660480"/>
            <a:ext cx="7347240" cy="3108240"/>
          </a:xfrm>
          <a:prstGeom prst="rect">
            <a:avLst/>
          </a:prstGeom>
          <a:ln w="0">
            <a:noFill/>
          </a:ln>
        </p:spPr>
      </p:pic>
      <p:cxnSp>
        <p:nvCxnSpPr>
          <p:cNvPr id="124" name="直線單箭頭接點 12"/>
          <p:cNvCxnSpPr/>
          <p:nvPr/>
        </p:nvCxnSpPr>
        <p:spPr>
          <a:xfrm>
            <a:off x="9663480" y="4611240"/>
            <a:ext cx="448200" cy="72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125" name="文字方塊 13"/>
          <p:cNvSpPr/>
          <p:nvPr/>
        </p:nvSpPr>
        <p:spPr>
          <a:xfrm>
            <a:off x="10220760" y="4457520"/>
            <a:ext cx="1036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=1.6 * LUT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矩形 16"/>
          <p:cNvSpPr/>
          <p:nvPr/>
        </p:nvSpPr>
        <p:spPr>
          <a:xfrm>
            <a:off x="5795640" y="4401000"/>
            <a:ext cx="815040" cy="2354400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127" name="直線單箭頭接點 18"/>
          <p:cNvCxnSpPr>
            <a:stCxn id="122" idx="2"/>
            <a:endCxn id="126" idx="0"/>
          </p:cNvCxnSpPr>
          <p:nvPr/>
        </p:nvCxnSpPr>
        <p:spPr>
          <a:xfrm>
            <a:off x="5313600" y="3354480"/>
            <a:ext cx="889920" cy="1046880"/>
          </a:xfrm>
          <a:prstGeom prst="straightConnector1">
            <a:avLst/>
          </a:prstGeom>
          <a:ln w="19050">
            <a:solidFill>
              <a:srgbClr val="ff0000"/>
            </a:solidFill>
            <a:round/>
            <a:tailEnd len="med" type="arrow" w="med"/>
          </a:ln>
        </p:spPr>
      </p:cxnSp>
      <p:sp>
        <p:nvSpPr>
          <p:cNvPr id="128" name="矩形 19"/>
          <p:cNvSpPr/>
          <p:nvPr/>
        </p:nvSpPr>
        <p:spPr>
          <a:xfrm>
            <a:off x="7347960" y="4401000"/>
            <a:ext cx="762480" cy="2354400"/>
          </a:xfrm>
          <a:prstGeom prst="rect">
            <a:avLst/>
          </a:prstGeom>
          <a:noFill/>
          <a:ln w="57150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chemeClr val="lt1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Tool Chain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Vivado for FPGA Design (RTL → Bitstream)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Vitis for Software Development (C/C++ → ELF)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132" name="Picture 9" descr="Vitis Embedded (SDK)"/>
          <p:cNvPicPr/>
          <p:nvPr/>
        </p:nvPicPr>
        <p:blipFill>
          <a:blip r:embed="rId1"/>
          <a:stretch/>
        </p:blipFill>
        <p:spPr>
          <a:xfrm>
            <a:off x="6095880" y="3166200"/>
            <a:ext cx="5108040" cy="2873160"/>
          </a:xfrm>
          <a:prstGeom prst="rect">
            <a:avLst/>
          </a:prstGeom>
          <a:ln w="0">
            <a:noFill/>
          </a:ln>
        </p:spPr>
      </p:pic>
      <p:pic>
        <p:nvPicPr>
          <p:cNvPr id="133" name="Picture 11" descr="AMD Vivado Design Suite: Redefining FPGA and SoC Development - Microchip USA"/>
          <p:cNvPicPr/>
          <p:nvPr/>
        </p:nvPicPr>
        <p:blipFill>
          <a:blip r:embed="rId2"/>
          <a:stretch/>
        </p:blipFill>
        <p:spPr>
          <a:xfrm>
            <a:off x="1015920" y="3166200"/>
            <a:ext cx="4632120" cy="287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Design Flow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圖片 5" descr="一張含有 文字, 螢幕擷取畫面, 字型, 圖表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410400" y="2871000"/>
            <a:ext cx="5837400" cy="2651400"/>
          </a:xfrm>
          <a:prstGeom prst="rect">
            <a:avLst/>
          </a:prstGeom>
          <a:ln w="0">
            <a:noFill/>
          </a:ln>
        </p:spPr>
      </p:pic>
      <p:sp>
        <p:nvSpPr>
          <p:cNvPr id="136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pic>
        <p:nvPicPr>
          <p:cNvPr id="137" name="圖片 7" descr="一張含有 白色, 設計 的圖片&#10;&#10;AI 產生的內容可能不正確。"/>
          <p:cNvPicPr/>
          <p:nvPr/>
        </p:nvPicPr>
        <p:blipFill>
          <a:blip r:embed="rId2"/>
          <a:stretch/>
        </p:blipFill>
        <p:spPr>
          <a:xfrm>
            <a:off x="7207920" y="3150360"/>
            <a:ext cx="327960" cy="183240"/>
          </a:xfrm>
          <a:prstGeom prst="rect">
            <a:avLst/>
          </a:prstGeom>
          <a:ln w="0">
            <a:noFill/>
          </a:ln>
        </p:spPr>
      </p:pic>
      <p:pic>
        <p:nvPicPr>
          <p:cNvPr id="138" name="圖片 10" descr="一張含有 文字, 圖表, 螢幕擷取畫面, 字型 的圖片&#10;&#10;AI 產生的內容可能不正確。"/>
          <p:cNvPicPr/>
          <p:nvPr/>
        </p:nvPicPr>
        <p:blipFill>
          <a:blip r:embed="rId3"/>
          <a:stretch/>
        </p:blipFill>
        <p:spPr>
          <a:xfrm>
            <a:off x="6331320" y="1847520"/>
            <a:ext cx="5449680" cy="4232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Program to FPGA and Debug - XSDB (via JTAG)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334800" y="1530000"/>
            <a:ext cx="11571120" cy="50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XSDB (Xilinx System Debugger) communicates with the target board through </a:t>
            </a:r>
            <a:r>
              <a:rPr b="0" lang="en-US" sz="20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JTAG (IEEE 1149.1)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,</a:t>
            </a:r>
            <a:r>
              <a:rPr b="0" lang="en-US" sz="20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 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a standard interface for </a:t>
            </a:r>
            <a:r>
              <a:rPr b="0" lang="en-US" sz="20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device programming and hardware debugging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It uses the MicroBlaze Debug Module (MDM) to </a:t>
            </a:r>
            <a:r>
              <a:rPr b="0" lang="en-US" sz="2000" spc="-1" strike="noStrike">
                <a:solidFill>
                  <a:srgbClr val="ff0000"/>
                </a:solidFill>
                <a:latin typeface="Times New Roman"/>
                <a:ea typeface="Times New Roman"/>
              </a:rPr>
              <a:t>halt/reset the CPU and access system memory</a:t>
            </a: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XSDB then downloads the .elf sections (e.g. .text, .data) into on-chip BRAM according to the ELF memory map.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Finally, XSDB sets the program entry point (PC) and starts CPU execution.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Picture 5" descr="Debugging Using the Vitis Software Platform — Embedded Design Tutorials  2022.1 documentation"/>
          <p:cNvPicPr/>
          <p:nvPr/>
        </p:nvPicPr>
        <p:blipFill>
          <a:blip r:embed="rId1"/>
          <a:stretch/>
        </p:blipFill>
        <p:spPr>
          <a:xfrm>
            <a:off x="8691120" y="3512880"/>
            <a:ext cx="3058560" cy="2895480"/>
          </a:xfrm>
          <a:prstGeom prst="rect">
            <a:avLst/>
          </a:prstGeom>
          <a:ln w="0">
            <a:noFill/>
          </a:ln>
        </p:spPr>
      </p:pic>
      <p:pic>
        <p:nvPicPr>
          <p:cNvPr id="142" name="圖片 8" descr="一張含有 文字, 螢幕擷取畫面, 字型, 軟體 的圖片&#10;&#10;AI 產生的內容可能不正確。"/>
          <p:cNvPicPr/>
          <p:nvPr/>
        </p:nvPicPr>
        <p:blipFill>
          <a:blip r:embed="rId2"/>
          <a:stretch/>
        </p:blipFill>
        <p:spPr>
          <a:xfrm>
            <a:off x="3147120" y="4007160"/>
            <a:ext cx="3961800" cy="264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Software Template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Dhystone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Peripheral Test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UART Test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Monte Carlo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Interrupt Service Routine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" name="圖片 4" descr="一張含有 文字, 字型, 螢幕擷取畫面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481680" y="4214520"/>
            <a:ext cx="6019920" cy="1294920"/>
          </a:xfrm>
          <a:prstGeom prst="rect">
            <a:avLst/>
          </a:prstGeom>
          <a:ln w="0">
            <a:noFill/>
          </a:ln>
        </p:spPr>
      </p:pic>
      <p:sp>
        <p:nvSpPr>
          <p:cNvPr id="146" name="文字方塊 5"/>
          <p:cNvSpPr/>
          <p:nvPr/>
        </p:nvSpPr>
        <p:spPr>
          <a:xfrm>
            <a:off x="6803640" y="4214520"/>
            <a:ext cx="5146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MicroBlaze V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(single-core) measured </a:t>
            </a: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0.522 DMIPS/MHz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Cortex-A9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(dual-core, hard-core) is commonly reported around </a:t>
            </a: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~2.5 DMIPS/MHz per core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but in some practical cases it can drop to </a:t>
            </a:r>
            <a:r>
              <a:rPr b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~1.0 DMIPS/MHz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depending on memory/cache and system configuration.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Ripes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" name="圖片 6" descr="一張含有 文字, 螢幕擷取畫面, 軟體, 陳列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1392840" y="1542600"/>
            <a:ext cx="9405720" cy="5314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Ripes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" name="圖片 8" descr="一張含有 文字, 螢幕擷取畫面, 軟體, 數字 的圖片&#10;&#10;AI 產生的內容可能不正確。"/>
          <p:cNvPicPr/>
          <p:nvPr/>
        </p:nvPicPr>
        <p:blipFill>
          <a:blip r:embed="rId1"/>
          <a:stretch/>
        </p:blipFill>
        <p:spPr>
          <a:xfrm>
            <a:off x="1372680" y="1563480"/>
            <a:ext cx="9445680" cy="529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dddddd"/>
                </a:solidFill>
                <a:latin typeface="Calibri"/>
                <a:ea typeface="Calibri"/>
              </a:rPr>
              <a:t>Issues to Address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6858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romanLcPeriod"/>
            </a:pP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Full Assembly Boot Chain in Vitis (How to Implement)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11430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alphaLcPeriod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start.S : reset entry + stack + jump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11430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alphaLcPeriod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main.S : your main logic (or C main if mixed mode)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11430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alphaLcPeriod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lscript.ld : defines memory regions &amp; entry address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6858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romanLcPeriod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FPGA Board Selection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11430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alphaLcPeriod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Spartan-series without DDR FPGA boards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1143000" indent="-5716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AutoNum type="alphaLcPeriod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  <a:ea typeface="Times New Roman"/>
              </a:rPr>
              <a:t>Xilinx part number ≤ 35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Picture 3" descr=""/>
          <p:cNvPicPr/>
          <p:nvPr/>
        </p:nvPicPr>
        <p:blipFill>
          <a:blip r:embed="rId1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  <p:pic>
        <p:nvPicPr>
          <p:cNvPr id="154" name="Picture 5" descr=""/>
          <p:cNvPicPr/>
          <p:nvPr/>
        </p:nvPicPr>
        <p:blipFill>
          <a:blip r:embed="rId2"/>
          <a:stretch/>
        </p:blipFill>
        <p:spPr>
          <a:xfrm>
            <a:off x="8455320" y="4223160"/>
            <a:ext cx="2634120" cy="2634120"/>
          </a:xfrm>
          <a:prstGeom prst="rect">
            <a:avLst/>
          </a:prstGeom>
          <a:ln w="0">
            <a:noFill/>
          </a:ln>
        </p:spPr>
      </p:pic>
      <p:sp>
        <p:nvSpPr>
          <p:cNvPr id="155" name="文字方塊 4"/>
          <p:cNvSpPr/>
          <p:nvPr/>
        </p:nvSpPr>
        <p:spPr>
          <a:xfrm>
            <a:off x="9415800" y="3973320"/>
            <a:ext cx="923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Cmod S7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文字方塊 5"/>
          <p:cNvSpPr/>
          <p:nvPr/>
        </p:nvSpPr>
        <p:spPr>
          <a:xfrm>
            <a:off x="9420480" y="6477120"/>
            <a:ext cx="913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Cmod A7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1164</TotalTime>
  <Application>LibreOffice/24.2.7.2$Linux_X86_64 LibreOffice_project/420$Build-2</Application>
  <AppVersion>15.0000</AppVersion>
  <Words>665</Words>
  <Paragraphs>106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2018-11-07T14:30:45Z</dcterms:created>
  <dc:creator>Windows 使用者</dc:creator>
  <dc:description/>
  <dc:language>en-US</dc:language>
  <cp:lastModifiedBy/>
  <dcterms:modified xsi:type="dcterms:W3CDTF">2026-03-30T16:34:02Z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